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</p:sldMasterIdLst>
  <p:notesMasterIdLst>
    <p:notesMasterId r:id="rId9"/>
  </p:notesMasterIdLst>
  <p:sldIdLst>
    <p:sldId id="256" r:id="rId2"/>
    <p:sldId id="323" r:id="rId3"/>
    <p:sldId id="324" r:id="rId4"/>
    <p:sldId id="325" r:id="rId5"/>
    <p:sldId id="326" r:id="rId6"/>
    <p:sldId id="322" r:id="rId7"/>
    <p:sldId id="315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401"/>
    <a:srgbClr val="FFE601"/>
    <a:srgbClr val="F5EF00"/>
    <a:srgbClr val="FF0000"/>
    <a:srgbClr val="0F00FC"/>
    <a:srgbClr val="00FF06"/>
    <a:srgbClr val="0047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92" d="100"/>
          <a:sy n="92" d="100"/>
        </p:scale>
        <p:origin x="226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0B7F9E-A1C3-49A9-9E10-41E48F42B6EF}" type="datetimeFigureOut">
              <a:rPr lang="hr-HR" smtClean="0"/>
              <a:t>24.4.2025.</a:t>
            </a:fld>
            <a:endParaRPr lang="hr-H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r-H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3AADC4-D7B5-450A-9EF8-CC02CD338196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086581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32798-267A-4A65-B728-860D168520E9}" type="datetime1">
              <a:rPr lang="hr-HR" smtClean="0"/>
              <a:t>24.4.2025.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‹#›</a:t>
            </a:fld>
            <a:endParaRPr lang="hr-H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393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9952B-35CB-45F4-B445-93E96AE6AA9A}" type="datetime1">
              <a:rPr lang="hr-HR" smtClean="0"/>
              <a:t>24.4.2025.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605448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96C6A-72C5-452A-B645-74DCDF4F800D}" type="datetime1">
              <a:rPr lang="hr-HR" smtClean="0"/>
              <a:t>24.4.2025.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‹#›</a:t>
            </a:fld>
            <a:endParaRPr lang="hr-H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6554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06E91-FFF8-4AB3-8240-55376CB7D14E}" type="datetime1">
              <a:rPr lang="hr-HR" smtClean="0"/>
              <a:t>24.4.2025.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088129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B5B90-9CB0-4409-89A2-DA39566333B9}" type="datetime1">
              <a:rPr lang="hr-HR" smtClean="0"/>
              <a:t>24.4.2025.</a:t>
            </a:fld>
            <a:endParaRPr lang="hr-H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2743794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0C004-70F7-4C97-9947-702C175B2047}" type="datetime1">
              <a:rPr lang="hr-HR" smtClean="0"/>
              <a:t>24.4.2025.</a:t>
            </a:fld>
            <a:endParaRPr lang="hr-H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07815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47105-24BD-4206-BE09-6051D8DF5A30}" type="datetime1">
              <a:rPr lang="hr-HR" smtClean="0"/>
              <a:t>24.4.2025.</a:t>
            </a:fld>
            <a:endParaRPr lang="hr-H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hr-H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819115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6EA9D767-858F-4EC9-ADD3-529928E56913}" type="datetime1">
              <a:rPr lang="hr-HR" smtClean="0"/>
              <a:t>24.4.2025.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434875C-B374-4DCB-B0EF-B862E54336C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1722008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151D8-37D8-4141-AE5C-976E3A606B5B}" type="datetime1">
              <a:rPr lang="hr-HR" smtClean="0"/>
              <a:t>24.4.2025.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003475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57ED3-79A9-4245-8F0F-F984ABC9CDC0}" type="datetime1">
              <a:rPr lang="hr-HR" smtClean="0"/>
              <a:t>24.4.2025.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517941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31ACD-5387-45BD-B548-1DCDFB961638}" type="datetime1">
              <a:rPr lang="hr-HR" smtClean="0"/>
              <a:t>24.4.2025.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0817847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870FF488-27A0-4035-9B9A-B8D9554714E0}" type="datetime1">
              <a:rPr lang="hr-HR" smtClean="0"/>
              <a:t>24.4.2025.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434875C-B374-4DCB-B0EF-B862E54336C8}" type="slidenum">
              <a:rPr lang="hr-HR" smtClean="0"/>
              <a:t>‹#›</a:t>
            </a:fld>
            <a:endParaRPr lang="hr-HR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2901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FFF00-34E4-F05B-4CF2-0A8B5E0036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School mapping in ESRI imagery</a:t>
            </a:r>
            <a:endParaRPr lang="hr-HR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3255326-AF42-6735-8CB8-9009BE9D7A18}"/>
              </a:ext>
            </a:extLst>
          </p:cNvPr>
          <p:cNvSpPr txBox="1">
            <a:spLocks/>
          </p:cNvSpPr>
          <p:nvPr/>
        </p:nvSpPr>
        <p:spPr>
          <a:xfrm>
            <a:off x="1097280" y="4325112"/>
            <a:ext cx="10058400" cy="75895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800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Andrija </a:t>
            </a:r>
            <a:r>
              <a:rPr lang="en-US" sz="2800" dirty="0" err="1"/>
              <a:t>Gorup</a:t>
            </a:r>
            <a:r>
              <a:rPr lang="en-US" sz="2800" dirty="0"/>
              <a:t>, Dominik </a:t>
            </a:r>
            <a:r>
              <a:rPr lang="en-US" sz="2800" dirty="0" err="1"/>
              <a:t>Jambrovi</a:t>
            </a:r>
            <a:r>
              <a:rPr lang="hr-HR" sz="2800" dirty="0"/>
              <a:t>ć, Marin Kačan, Siniša Šegvić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0AEFF77-6818-7F14-D523-83B7CA729C24}"/>
              </a:ext>
            </a:extLst>
          </p:cNvPr>
          <p:cNvSpPr txBox="1">
            <a:spLocks/>
          </p:cNvSpPr>
          <p:nvPr/>
        </p:nvSpPr>
        <p:spPr>
          <a:xfrm>
            <a:off x="1097280" y="5340096"/>
            <a:ext cx="10058400" cy="75895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800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/>
              <a:t>April</a:t>
            </a:r>
            <a:r>
              <a:rPr lang="hr-HR" sz="2400" dirty="0"/>
              <a:t> </a:t>
            </a:r>
            <a:r>
              <a:rPr lang="en-US" sz="2400" dirty="0"/>
              <a:t>30th</a:t>
            </a:r>
            <a:r>
              <a:rPr lang="hr-HR" sz="2400" dirty="0"/>
              <a:t>, 202</a:t>
            </a:r>
            <a:r>
              <a:rPr lang="en-US" sz="2400" dirty="0"/>
              <a:t>5</a:t>
            </a:r>
            <a:endParaRPr lang="hr-HR" sz="2400" dirty="0"/>
          </a:p>
        </p:txBody>
      </p:sp>
    </p:spTree>
    <p:extLst>
      <p:ext uri="{BB962C8B-B14F-4D97-AF65-F5344CB8AC3E}">
        <p14:creationId xmlns:p14="http://schemas.microsoft.com/office/powerpoint/2010/main" val="10112415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02C21-7E56-4F69-015C-2327638DF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FFA1E-E1B5-EC4E-A83A-2132B5355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286603"/>
            <a:ext cx="10457411" cy="1450757"/>
          </a:xfrm>
        </p:spPr>
        <p:txBody>
          <a:bodyPr/>
          <a:lstStyle/>
          <a:p>
            <a:r>
              <a:rPr lang="en-US" dirty="0"/>
              <a:t>Data problems</a:t>
            </a:r>
            <a:endParaRPr lang="hr-H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00BB3-59DC-26AE-DF5A-EC1A2B0566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3"/>
            <a:ext cx="10772503" cy="4441855"/>
          </a:xfrm>
        </p:spPr>
        <p:txBody>
          <a:bodyPr>
            <a:normAutofit/>
          </a:bodyPr>
          <a:lstStyle/>
          <a:p>
            <a:pPr lvl="1"/>
            <a:endParaRPr lang="en-US" sz="2400" dirty="0"/>
          </a:p>
          <a:p>
            <a:pPr lvl="1"/>
            <a:r>
              <a:rPr lang="en-US" sz="2400" b="1" dirty="0"/>
              <a:t>School</a:t>
            </a:r>
            <a:r>
              <a:rPr lang="en-US" sz="2400" dirty="0"/>
              <a:t> </a:t>
            </a:r>
            <a:r>
              <a:rPr lang="en-US" sz="2400" b="1" dirty="0"/>
              <a:t>coordinates and imagery aren’t coupled </a:t>
            </a:r>
            <a:r>
              <a:rPr lang="en-US" sz="2400" dirty="0"/>
              <a:t>– coordinates can be recorded much earlier than the corresponding image (or vice versa)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During the period between coordinates and image acquisition, the captured locations can exhibit changes (for example, urban growth)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In other words, our data can be </a:t>
            </a:r>
            <a:r>
              <a:rPr lang="en-US" sz="2400" b="1" dirty="0"/>
              <a:t>noisy</a:t>
            </a:r>
            <a:r>
              <a:rPr lang="en-US" sz="2400" dirty="0"/>
              <a:t> (incorrectly labelled satellite imagery)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Perhaps we could use </a:t>
            </a:r>
            <a:r>
              <a:rPr lang="en-US" sz="2400" b="1" dirty="0"/>
              <a:t>algorithms for noisy label learning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201542-DA6E-1C0A-4513-CDA6DC54E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2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719781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9C03F6-5988-A605-6C84-D157C20CD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2C498-CDD6-5148-8F9D-BBC86B0E2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286603"/>
            <a:ext cx="10457411" cy="1450757"/>
          </a:xfrm>
        </p:spPr>
        <p:txBody>
          <a:bodyPr/>
          <a:lstStyle/>
          <a:p>
            <a:r>
              <a:rPr lang="en-US" dirty="0"/>
              <a:t>Imprecise label learning (ILL)</a:t>
            </a:r>
            <a:endParaRPr lang="hr-H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EF3BB0-C2A5-5064-F3A2-69F8B842BB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3"/>
            <a:ext cx="10772503" cy="4441855"/>
          </a:xfrm>
        </p:spPr>
        <p:txBody>
          <a:bodyPr>
            <a:normAutofit/>
          </a:bodyPr>
          <a:lstStyle/>
          <a:p>
            <a:pPr lvl="1"/>
            <a:endParaRPr lang="en-US" sz="2400" dirty="0"/>
          </a:p>
          <a:p>
            <a:pPr lvl="1"/>
            <a:r>
              <a:rPr lang="en-US" sz="2400" dirty="0"/>
              <a:t>State of the art framework for training a model on various imprecise label configurations: partial labels, </a:t>
            </a:r>
            <a:r>
              <a:rPr lang="en-US" sz="2400" b="1" dirty="0"/>
              <a:t>noisy labels</a:t>
            </a:r>
            <a:r>
              <a:rPr lang="en-US" sz="2400" dirty="0"/>
              <a:t>, etc.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Utilizes the </a:t>
            </a:r>
            <a:r>
              <a:rPr lang="en-US" sz="2400" b="1" dirty="0"/>
              <a:t>expectation-maximization (EM) algorithm</a:t>
            </a:r>
            <a:r>
              <a:rPr lang="en-US" sz="2400" dirty="0"/>
              <a:t> for modelling imprecise label information, as well as training the given model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Can be used on custom datasets and model architectures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660D6A-EDD2-9BDC-4F6A-C164946FA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3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9337315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DCD9B-10F0-7B74-5731-FADD892C4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7407A-3B8D-BD67-1A98-604C00B53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286603"/>
            <a:ext cx="10457411" cy="1450757"/>
          </a:xfrm>
        </p:spPr>
        <p:txBody>
          <a:bodyPr/>
          <a:lstStyle/>
          <a:p>
            <a:r>
              <a:rPr lang="en-US" dirty="0"/>
              <a:t>Imprecise label learning (ILL), CIFAR10</a:t>
            </a:r>
            <a:endParaRPr lang="hr-H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6B2BAB-4BFD-6F74-2EE2-B890B99B51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3"/>
            <a:ext cx="10772503" cy="4441855"/>
          </a:xfrm>
        </p:spPr>
        <p:txBody>
          <a:bodyPr>
            <a:normAutofit/>
          </a:bodyPr>
          <a:lstStyle/>
          <a:p>
            <a:pPr lvl="1"/>
            <a:endParaRPr lang="en-US" sz="2400" dirty="0"/>
          </a:p>
          <a:p>
            <a:pPr lvl="1"/>
            <a:r>
              <a:rPr lang="en-US" sz="2400" dirty="0"/>
              <a:t>Train ResNet18 model on CIFAR10 dataset with noisy labels (varying noise rate)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Measure </a:t>
            </a:r>
            <a:r>
              <a:rPr lang="en-US" sz="2400" b="1" dirty="0"/>
              <a:t>accuracy on clean test data </a:t>
            </a:r>
            <a:r>
              <a:rPr lang="en-US" sz="2400" dirty="0"/>
              <a:t>(no noisy labels)</a:t>
            </a:r>
          </a:p>
          <a:p>
            <a:pPr lvl="1"/>
            <a:endParaRPr lang="en-US" sz="2400" dirty="0"/>
          </a:p>
          <a:p>
            <a:pPr lvl="1"/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384D75-A704-426A-201B-1770C3943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4</a:t>
            </a:fld>
            <a:endParaRPr lang="hr-HR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4292419-DE0B-AD6C-B49D-45EBCC6893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3850690"/>
              </p:ext>
            </p:extLst>
          </p:nvPr>
        </p:nvGraphicFramePr>
        <p:xfrm>
          <a:off x="3635561" y="3715607"/>
          <a:ext cx="4920877" cy="2255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4582">
                  <a:extLst>
                    <a:ext uri="{9D8B030D-6E8A-4147-A177-3AD203B41FA5}">
                      <a16:colId xmlns:a16="http://schemas.microsoft.com/office/drawing/2014/main" val="3366048298"/>
                    </a:ext>
                  </a:extLst>
                </a:gridCol>
                <a:gridCol w="2856295">
                  <a:extLst>
                    <a:ext uri="{9D8B030D-6E8A-4147-A177-3AD203B41FA5}">
                      <a16:colId xmlns:a16="http://schemas.microsoft.com/office/drawing/2014/main" val="3575401396"/>
                    </a:ext>
                  </a:extLst>
                </a:gridCol>
              </a:tblGrid>
              <a:tr h="92195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Noise rate (%)</a:t>
                      </a:r>
                      <a:endParaRPr lang="hr-H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Test accuracy (%)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4719664"/>
                  </a:ext>
                </a:extLst>
              </a:tr>
              <a:tr h="66694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  <a:endParaRPr lang="hr-H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96.87</a:t>
                      </a:r>
                      <a:endParaRPr lang="hr-HR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629051"/>
                  </a:ext>
                </a:extLst>
              </a:tr>
              <a:tr h="66694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20</a:t>
                      </a:r>
                      <a:endParaRPr lang="hr-H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96.36</a:t>
                      </a:r>
                      <a:endParaRPr lang="hr-HR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47353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31800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0EC6E-2B3B-8B78-B655-3F3204DF5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08DB8-CCF5-2E2F-D0A7-17DCD46DC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286603"/>
            <a:ext cx="10457411" cy="1450757"/>
          </a:xfrm>
        </p:spPr>
        <p:txBody>
          <a:bodyPr/>
          <a:lstStyle/>
          <a:p>
            <a:r>
              <a:rPr lang="en-US" dirty="0"/>
              <a:t>Imprecise label learning (ILL), </a:t>
            </a:r>
            <a:r>
              <a:rPr lang="en-US" dirty="0" err="1"/>
              <a:t>Anditi</a:t>
            </a:r>
            <a:endParaRPr lang="hr-H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6C1F5F-C232-25E1-335C-8A6AE3DD20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3"/>
            <a:ext cx="10772503" cy="4441855"/>
          </a:xfrm>
        </p:spPr>
        <p:txBody>
          <a:bodyPr>
            <a:normAutofit/>
          </a:bodyPr>
          <a:lstStyle/>
          <a:p>
            <a:pPr lvl="1"/>
            <a:endParaRPr lang="en-US" sz="2400" dirty="0"/>
          </a:p>
          <a:p>
            <a:pPr lvl="1"/>
            <a:r>
              <a:rPr lang="en-US" sz="2400" dirty="0"/>
              <a:t>Train </a:t>
            </a:r>
            <a:r>
              <a:rPr lang="en-US" sz="2400" dirty="0" err="1"/>
              <a:t>ConvNext</a:t>
            </a:r>
            <a:r>
              <a:rPr lang="en-US" sz="2400" dirty="0"/>
              <a:t>-small model on </a:t>
            </a:r>
            <a:r>
              <a:rPr lang="en-US" sz="2400" dirty="0" err="1"/>
              <a:t>Anditi</a:t>
            </a:r>
            <a:r>
              <a:rPr lang="en-US" sz="2400" dirty="0"/>
              <a:t> dataset for 30 epochs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Non-schools sampled from OSM Vietnam using </a:t>
            </a:r>
            <a:r>
              <a:rPr lang="en-US" sz="2400" b="1" dirty="0"/>
              <a:t>static Gaussian sampling with 1:1 ratio</a:t>
            </a:r>
            <a:endParaRPr lang="en-US" sz="2400" dirty="0"/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Measure </a:t>
            </a:r>
            <a:r>
              <a:rPr lang="en-US" sz="2400" b="1" dirty="0"/>
              <a:t>results on wide dataset</a:t>
            </a:r>
          </a:p>
          <a:p>
            <a:pPr lvl="1"/>
            <a:endParaRPr lang="en-US" sz="2400" b="1" dirty="0"/>
          </a:p>
          <a:p>
            <a:pPr lvl="1"/>
            <a:r>
              <a:rPr lang="en-US" sz="2400" dirty="0"/>
              <a:t>Compare with prior </a:t>
            </a:r>
            <a:r>
              <a:rPr lang="en-US" sz="2400"/>
              <a:t>best method</a:t>
            </a:r>
            <a:endParaRPr lang="en-US" sz="2400" dirty="0"/>
          </a:p>
          <a:p>
            <a:pPr lvl="1"/>
            <a:endParaRPr lang="en-US" sz="2400" dirty="0"/>
          </a:p>
          <a:p>
            <a:pPr lvl="1"/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C81E81-9CD2-8FBF-656C-2D55A54EE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5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5193929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AD634-683B-4126-198F-3D36E74BE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D237B-68BE-50F4-B716-62B8F278E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Imprecise label learning (ILL), </a:t>
            </a:r>
            <a:r>
              <a:rPr lang="en-US" dirty="0" err="1"/>
              <a:t>Anditi</a:t>
            </a:r>
            <a:endParaRPr lang="hr-H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CBAF89-9139-C8E3-B59E-6CC910A29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6</a:t>
            </a:fld>
            <a:endParaRPr lang="hr-HR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1AF2492-4C7A-650C-864A-6C88C1A515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8148754"/>
              </p:ext>
            </p:extLst>
          </p:nvPr>
        </p:nvGraphicFramePr>
        <p:xfrm>
          <a:off x="994309" y="2442020"/>
          <a:ext cx="10161371" cy="26786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5220">
                  <a:extLst>
                    <a:ext uri="{9D8B030D-6E8A-4147-A177-3AD203B41FA5}">
                      <a16:colId xmlns:a16="http://schemas.microsoft.com/office/drawing/2014/main" val="1991548073"/>
                    </a:ext>
                  </a:extLst>
                </a:gridCol>
                <a:gridCol w="1847268">
                  <a:extLst>
                    <a:ext uri="{9D8B030D-6E8A-4147-A177-3AD203B41FA5}">
                      <a16:colId xmlns:a16="http://schemas.microsoft.com/office/drawing/2014/main" val="3366048298"/>
                    </a:ext>
                  </a:extLst>
                </a:gridCol>
                <a:gridCol w="1847268">
                  <a:extLst>
                    <a:ext uri="{9D8B030D-6E8A-4147-A177-3AD203B41FA5}">
                      <a16:colId xmlns:a16="http://schemas.microsoft.com/office/drawing/2014/main" val="3841447715"/>
                    </a:ext>
                  </a:extLst>
                </a:gridCol>
                <a:gridCol w="1847268">
                  <a:extLst>
                    <a:ext uri="{9D8B030D-6E8A-4147-A177-3AD203B41FA5}">
                      <a16:colId xmlns:a16="http://schemas.microsoft.com/office/drawing/2014/main" val="3041923267"/>
                    </a:ext>
                  </a:extLst>
                </a:gridCol>
                <a:gridCol w="1674347">
                  <a:extLst>
                    <a:ext uri="{9D8B030D-6E8A-4147-A177-3AD203B41FA5}">
                      <a16:colId xmlns:a16="http://schemas.microsoft.com/office/drawing/2014/main" val="3575401396"/>
                    </a:ext>
                  </a:extLst>
                </a:gridCol>
              </a:tblGrid>
              <a:tr h="92195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Experiment description</a:t>
                      </a:r>
                      <a:endParaRPr lang="hr-H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Final threshold (%)</a:t>
                      </a:r>
                      <a:endParaRPr lang="hr-H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Precision (%)</a:t>
                      </a:r>
                      <a:endParaRPr lang="hr-H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Recall (%)</a:t>
                      </a:r>
                      <a:endParaRPr lang="hr-H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F1 score (%)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4719664"/>
                  </a:ext>
                </a:extLst>
              </a:tr>
              <a:tr h="66694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Imprecise label learning</a:t>
                      </a:r>
                      <a:endParaRPr lang="hr-H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0.21</a:t>
                      </a:r>
                      <a:endParaRPr lang="hr-H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42.31</a:t>
                      </a:r>
                      <a:endParaRPr lang="hr-H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100.00</a:t>
                      </a:r>
                      <a:endParaRPr lang="hr-HR" sz="2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59.46</a:t>
                      </a:r>
                      <a:endParaRPr lang="hr-HR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629051"/>
                  </a:ext>
                </a:extLst>
              </a:tr>
              <a:tr h="66694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Prior best method</a:t>
                      </a:r>
                      <a:endParaRPr lang="hr-H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8.35</a:t>
                      </a:r>
                      <a:endParaRPr lang="hr-H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56.08</a:t>
                      </a:r>
                      <a:endParaRPr lang="hr-HR" sz="2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96.36</a:t>
                      </a:r>
                      <a:endParaRPr lang="hr-H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70.90</a:t>
                      </a:r>
                      <a:endParaRPr lang="hr-HR" sz="24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47353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33300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1FFC6-64BB-C03A-47C4-410C039A9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35A31-AB74-11C2-4FBF-95DD1D6CD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311938" cy="1450757"/>
          </a:xfrm>
        </p:spPr>
        <p:txBody>
          <a:bodyPr/>
          <a:lstStyle/>
          <a:p>
            <a:r>
              <a:rPr lang="en-US" dirty="0"/>
              <a:t>Conclusion &amp; Future work</a:t>
            </a:r>
            <a:endParaRPr lang="hr-H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62F95-71D6-AC0A-0129-5A4A866DF8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endParaRPr lang="en-US" sz="2400" dirty="0"/>
          </a:p>
          <a:p>
            <a:pPr lvl="1"/>
            <a:r>
              <a:rPr lang="en-US" sz="2400" dirty="0"/>
              <a:t>Algorithms for noisy label learning help with easy tasks (for example, noisy CIFAR10 classification)</a:t>
            </a:r>
          </a:p>
          <a:p>
            <a:pPr lvl="1"/>
            <a:endParaRPr lang="en-US" sz="2400" b="1" dirty="0"/>
          </a:p>
          <a:p>
            <a:pPr lvl="1"/>
            <a:r>
              <a:rPr lang="en-US" sz="2400" dirty="0"/>
              <a:t>Our experiments suggest that the noisy label learning algorithms aren’t that helpful when dealing with harder tasks (school detection on satellite imagery)</a:t>
            </a:r>
          </a:p>
          <a:p>
            <a:pPr marL="201168" lvl="1" indent="0">
              <a:buNone/>
            </a:pPr>
            <a:endParaRPr lang="en-US" sz="2400" dirty="0"/>
          </a:p>
          <a:p>
            <a:pPr lvl="1"/>
            <a:r>
              <a:rPr lang="en-US" sz="2400" dirty="0"/>
              <a:t>Experiment with various hyperparameter configurations to confirm or deny our suspicions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AA7E2B-E69E-1EFF-CBEA-EB869331C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7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77709063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672</TotalTime>
  <Words>325</Words>
  <Application>Microsoft Office PowerPoint</Application>
  <PresentationFormat>Widescreen</PresentationFormat>
  <Paragraphs>68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Calibri</vt:lpstr>
      <vt:lpstr>Calibri Light</vt:lpstr>
      <vt:lpstr>Retrospect</vt:lpstr>
      <vt:lpstr>School mapping in ESRI imagery</vt:lpstr>
      <vt:lpstr>Data problems</vt:lpstr>
      <vt:lpstr>Imprecise label learning (ILL)</vt:lpstr>
      <vt:lpstr>Imprecise label learning (ILL), CIFAR10</vt:lpstr>
      <vt:lpstr>Imprecise label learning (ILL), Anditi</vt:lpstr>
      <vt:lpstr>Imprecise label learning (ILL), Anditi</vt:lpstr>
      <vt:lpstr>Conclusion &amp; 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Dominik Jambrovic</dc:creator>
  <cp:lastModifiedBy>Dominik Jambrovic</cp:lastModifiedBy>
  <cp:revision>53</cp:revision>
  <dcterms:created xsi:type="dcterms:W3CDTF">2024-10-22T16:37:25Z</dcterms:created>
  <dcterms:modified xsi:type="dcterms:W3CDTF">2025-04-23T23:03:56Z</dcterms:modified>
</cp:coreProperties>
</file>