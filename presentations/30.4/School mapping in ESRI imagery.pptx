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1"/>
  </p:notesMasterIdLst>
  <p:sldIdLst>
    <p:sldId id="256" r:id="rId2"/>
    <p:sldId id="323" r:id="rId3"/>
    <p:sldId id="324" r:id="rId4"/>
    <p:sldId id="325" r:id="rId5"/>
    <p:sldId id="326" r:id="rId6"/>
    <p:sldId id="322" r:id="rId7"/>
    <p:sldId id="327" r:id="rId8"/>
    <p:sldId id="329" r:id="rId9"/>
    <p:sldId id="31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28.4.2025.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28.4.2025.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28.4.2025.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28.4.2025.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28.4.2025.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28.4.2025.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28.4.2025.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28.4.2025.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28.4.2025.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28.4.2025.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28.4.2025.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28.4.2025.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28.4.2025.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April</a:t>
            </a:r>
            <a:r>
              <a:rPr lang="hr-HR" sz="2400" dirty="0"/>
              <a:t> </a:t>
            </a:r>
            <a:r>
              <a:rPr lang="en-US" sz="2400" dirty="0"/>
              <a:t>30th</a:t>
            </a:r>
            <a:r>
              <a:rPr lang="hr-HR" sz="2400" dirty="0"/>
              <a:t>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02C21-7E56-4F69-015C-2327638D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FFA1E-E1B5-EC4E-A83A-2132B535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Data 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00BB3-59DC-26AE-DF5A-EC1A2B056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b="1" dirty="0"/>
              <a:t>School</a:t>
            </a:r>
            <a:r>
              <a:rPr lang="en-US" sz="2400" dirty="0"/>
              <a:t> </a:t>
            </a:r>
            <a:r>
              <a:rPr lang="en-US" sz="2400" b="1" dirty="0"/>
              <a:t>coordinates and imagery aren’t coupled </a:t>
            </a:r>
            <a:r>
              <a:rPr lang="en-US" sz="2400" dirty="0"/>
              <a:t>– coordinates can be recorded much earlier than the corresponding image (or vice versa)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During the period between coordinates and image acquisition, the captured locations can exhibit changes (for example, urban growth)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In other words, our data can be </a:t>
            </a:r>
            <a:r>
              <a:rPr lang="en-US" sz="2400" b="1" dirty="0"/>
              <a:t>noisy</a:t>
            </a:r>
            <a:r>
              <a:rPr lang="en-US" sz="2400" dirty="0"/>
              <a:t> (incorrectly labelled satellite imagery)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Perhaps we could use </a:t>
            </a:r>
            <a:r>
              <a:rPr lang="en-US" sz="2400" b="1" dirty="0"/>
              <a:t>algorithms for noisy label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01542-DA6E-1C0A-4513-CDA6DC54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19781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C03F6-5988-A605-6C84-D157C20CD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2C498-CDD6-5148-8F9D-BBC86B0E2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Imprecise label learning (ILL)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F3BB0-C2A5-5064-F3A2-69F8B842B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State of the art framework for training a model on various imprecise label configurations: partial labels, </a:t>
            </a:r>
            <a:r>
              <a:rPr lang="en-US" sz="2400" b="1" dirty="0"/>
              <a:t>noisy labels</a:t>
            </a:r>
            <a:r>
              <a:rPr lang="en-US" sz="2400" dirty="0"/>
              <a:t>, etc.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Utilizes the </a:t>
            </a:r>
            <a:r>
              <a:rPr lang="en-US" sz="2400" b="1" dirty="0"/>
              <a:t>expectation-maximization (EM) algorithm</a:t>
            </a:r>
            <a:r>
              <a:rPr lang="en-US" sz="2400" dirty="0"/>
              <a:t> for modelling imprecise label information, as well as training the given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on custom datasets and model architectures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660D6A-EDD2-9BDC-4F6A-C164946FA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33731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CD9B-10F0-7B74-5731-FADD892C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7407A-3B8D-BD67-1A98-604C00B53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Imprecise label learning (ILL), CIFAR10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B2BAB-4BFD-6F74-2EE2-B890B99B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Train ResNet18 model on CIFAR10 dataset with noisy labels (varying noise rate)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accuracy on clean test data </a:t>
            </a:r>
            <a:r>
              <a:rPr lang="en-US" sz="2400" dirty="0"/>
              <a:t>(no noisy labels)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84D75-A704-426A-201B-1770C3943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292419-DE0B-AD6C-B49D-45EBCC689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850690"/>
              </p:ext>
            </p:extLst>
          </p:nvPr>
        </p:nvGraphicFramePr>
        <p:xfrm>
          <a:off x="3635561" y="3715607"/>
          <a:ext cx="4920877" cy="2255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582">
                  <a:extLst>
                    <a:ext uri="{9D8B030D-6E8A-4147-A177-3AD203B41FA5}">
                      <a16:colId xmlns:a16="http://schemas.microsoft.com/office/drawing/2014/main" val="3366048298"/>
                    </a:ext>
                  </a:extLst>
                </a:gridCol>
                <a:gridCol w="2856295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</a:tblGrid>
              <a:tr h="9219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Noise rate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Test accuracy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96.87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96.36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3180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EC6E-2B3B-8B78-B655-3F3204DF5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08DB8-CCF5-2E2F-D0A7-17DCD46DC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Imprecise label learning (ILL), </a:t>
            </a:r>
            <a:r>
              <a:rPr lang="en-US" dirty="0" err="1"/>
              <a:t>Anditi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C1F5F-C232-25E1-335C-8A6AE3DD2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Train </a:t>
            </a:r>
            <a:r>
              <a:rPr lang="en-US" sz="2400" dirty="0" err="1"/>
              <a:t>ConvNext</a:t>
            </a:r>
            <a:r>
              <a:rPr lang="en-US" sz="2400" dirty="0"/>
              <a:t>-small model on </a:t>
            </a:r>
            <a:r>
              <a:rPr lang="en-US" sz="2400" dirty="0" err="1"/>
              <a:t>Anditi</a:t>
            </a:r>
            <a:r>
              <a:rPr lang="en-US" sz="2400" dirty="0"/>
              <a:t> dataset for 30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Non-schools sampled from OSM Vietnam using </a:t>
            </a:r>
            <a:r>
              <a:rPr lang="en-US" sz="2400" b="1" dirty="0"/>
              <a:t>static Gaussian sampling with 1:1 ratio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results on wide dataset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Compare with prior </a:t>
            </a:r>
            <a:r>
              <a:rPr lang="en-US" sz="2400"/>
              <a:t>best method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81E81-9CD2-8FBF-656C-2D55A54EE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1939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D634-683B-4126-198F-3D36E74BE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237B-68BE-50F4-B716-62B8F278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Imprecise label learning (ILL), </a:t>
            </a:r>
            <a:r>
              <a:rPr lang="en-US" dirty="0" err="1"/>
              <a:t>Anditi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BAF89-9139-C8E3-B59E-6CC910A29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1AF2492-4C7A-650C-864A-6C88C1A51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148754"/>
              </p:ext>
            </p:extLst>
          </p:nvPr>
        </p:nvGraphicFramePr>
        <p:xfrm>
          <a:off x="994309" y="2442020"/>
          <a:ext cx="10161371" cy="26786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220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847268">
                  <a:extLst>
                    <a:ext uri="{9D8B030D-6E8A-4147-A177-3AD203B41FA5}">
                      <a16:colId xmlns:a16="http://schemas.microsoft.com/office/drawing/2014/main" val="3366048298"/>
                    </a:ext>
                  </a:extLst>
                </a:gridCol>
                <a:gridCol w="1847268">
                  <a:extLst>
                    <a:ext uri="{9D8B030D-6E8A-4147-A177-3AD203B41FA5}">
                      <a16:colId xmlns:a16="http://schemas.microsoft.com/office/drawing/2014/main" val="3841447715"/>
                    </a:ext>
                  </a:extLst>
                </a:gridCol>
                <a:gridCol w="1847268">
                  <a:extLst>
                    <a:ext uri="{9D8B030D-6E8A-4147-A177-3AD203B41FA5}">
                      <a16:colId xmlns:a16="http://schemas.microsoft.com/office/drawing/2014/main" val="3041923267"/>
                    </a:ext>
                  </a:extLst>
                </a:gridCol>
                <a:gridCol w="1674347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</a:tblGrid>
              <a:tr h="9219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Experiment description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Final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Precision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Recall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F1 score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Imprecise label learning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42.31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100.00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59.46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Prior best method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56.08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96.36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70.90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3330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C2A40-7517-D174-E803-0B5DE61DA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F708F-2549-75DA-1DFB-F4AC2C892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45474"/>
            <a:ext cx="10058400" cy="767542"/>
          </a:xfrm>
        </p:spPr>
        <p:txBody>
          <a:bodyPr/>
          <a:lstStyle/>
          <a:p>
            <a:pPr algn="ctr"/>
            <a:r>
              <a:rPr lang="en-US" dirty="0"/>
              <a:t>Hardest Examples, ILL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ACF5B-6EDA-B947-967A-88D94D591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  <p:pic>
        <p:nvPicPr>
          <p:cNvPr id="8" name="Picture 7" descr="A collage of a city&#10;&#10;AI-generated content may be incorrect.">
            <a:extLst>
              <a:ext uri="{FF2B5EF4-FFF2-40B4-BE49-F238E27FC236}">
                <a16:creationId xmlns:a16="http://schemas.microsoft.com/office/drawing/2014/main" id="{7BACA3A0-F1F5-8BAD-6AA0-230ED0474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996143"/>
            <a:ext cx="14051282" cy="3193473"/>
          </a:xfrm>
          <a:prstGeom prst="rect">
            <a:avLst/>
          </a:prstGeom>
        </p:spPr>
      </p:pic>
      <p:pic>
        <p:nvPicPr>
          <p:cNvPr id="6" name="Picture 5" descr="A collage of a city&#10;&#10;AI-generated content may be incorrect.">
            <a:extLst>
              <a:ext uri="{FF2B5EF4-FFF2-40B4-BE49-F238E27FC236}">
                <a16:creationId xmlns:a16="http://schemas.microsoft.com/office/drawing/2014/main" id="{B2BEF4DC-21A9-5401-75D5-76A6CCF100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3686401"/>
            <a:ext cx="14051282" cy="319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33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2BA7-C7AE-C088-FB30-A66820A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6B5E331-F305-30AD-1338-CCC34B97C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996143"/>
            <a:ext cx="14051282" cy="31934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B08B39-3491-5B52-0620-4590A5B9B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45474"/>
            <a:ext cx="10058400" cy="767542"/>
          </a:xfrm>
        </p:spPr>
        <p:txBody>
          <a:bodyPr/>
          <a:lstStyle/>
          <a:p>
            <a:pPr algn="ctr"/>
            <a:r>
              <a:rPr lang="en-US"/>
              <a:t>Hardest Examples, Prior Best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6B69C-79AA-6704-0490-0A34C26C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5BC97-6FA4-BDCC-D22D-61B1D561C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3675066"/>
            <a:ext cx="14051282" cy="319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632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Algorithms for noisy label learning help with easy tasks (for example, noisy CIFAR10 classification)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Our experiments suggest that the noisy label learning algorithms aren’t that helpful when dealing with harder tasks (school detection on satellite imagery)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Experiment with various hyperparameter configurations to confirm or deny our suspicions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679</TotalTime>
  <Words>336</Words>
  <Application>Microsoft Office PowerPoint</Application>
  <PresentationFormat>Widescreen</PresentationFormat>
  <Paragraphs>72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Calibri</vt:lpstr>
      <vt:lpstr>Calibri Light</vt:lpstr>
      <vt:lpstr>Retrospect</vt:lpstr>
      <vt:lpstr>School mapping in ESRI imagery</vt:lpstr>
      <vt:lpstr>Data problems</vt:lpstr>
      <vt:lpstr>Imprecise label learning (ILL)</vt:lpstr>
      <vt:lpstr>Imprecise label learning (ILL), CIFAR10</vt:lpstr>
      <vt:lpstr>Imprecise label learning (ILL), Anditi</vt:lpstr>
      <vt:lpstr>Imprecise label learning (ILL), Anditi</vt:lpstr>
      <vt:lpstr>Hardest Examples, ILL</vt:lpstr>
      <vt:lpstr>Hardest Examples, Prior Best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54</cp:revision>
  <dcterms:created xsi:type="dcterms:W3CDTF">2024-10-22T16:37:25Z</dcterms:created>
  <dcterms:modified xsi:type="dcterms:W3CDTF">2025-04-28T20:47:44Z</dcterms:modified>
</cp:coreProperties>
</file>