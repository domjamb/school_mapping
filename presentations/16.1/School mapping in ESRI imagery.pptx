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0"/>
  </p:notesMasterIdLst>
  <p:sldIdLst>
    <p:sldId id="256" r:id="rId2"/>
    <p:sldId id="258" r:id="rId3"/>
    <p:sldId id="296" r:id="rId4"/>
    <p:sldId id="298" r:id="rId5"/>
    <p:sldId id="302" r:id="rId6"/>
    <p:sldId id="303" r:id="rId7"/>
    <p:sldId id="297" r:id="rId8"/>
    <p:sldId id="304" r:id="rId9"/>
    <p:sldId id="305" r:id="rId10"/>
    <p:sldId id="306" r:id="rId11"/>
    <p:sldId id="307" r:id="rId12"/>
    <p:sldId id="310" r:id="rId13"/>
    <p:sldId id="311" r:id="rId14"/>
    <p:sldId id="308" r:id="rId15"/>
    <p:sldId id="309" r:id="rId16"/>
    <p:sldId id="312" r:id="rId17"/>
    <p:sldId id="314" r:id="rId18"/>
    <p:sldId id="31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401"/>
    <a:srgbClr val="FFE601"/>
    <a:srgbClr val="F5EF00"/>
    <a:srgbClr val="FF0000"/>
    <a:srgbClr val="0F00FC"/>
    <a:srgbClr val="00FF06"/>
    <a:srgbClr val="004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B7F9E-A1C3-49A9-9E10-41E48F42B6EF}" type="datetimeFigureOut">
              <a:rPr lang="hr-HR" smtClean="0"/>
              <a:t>15.1.2025.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AADC4-D7B5-450A-9EF8-CC02CD33819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86581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2798-267A-4A65-B728-860D168520E9}" type="datetime1">
              <a:rPr lang="hr-HR" smtClean="0"/>
              <a:t>15.1.2025.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9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952B-35CB-45F4-B445-93E96AE6AA9A}" type="datetime1">
              <a:rPr lang="hr-HR" smtClean="0"/>
              <a:t>15.1.2025.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0544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6C6A-72C5-452A-B645-74DCDF4F800D}" type="datetime1">
              <a:rPr lang="hr-HR" smtClean="0"/>
              <a:t>15.1.2025.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55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6E91-FFF8-4AB3-8240-55376CB7D14E}" type="datetime1">
              <a:rPr lang="hr-HR" smtClean="0"/>
              <a:t>15.1.2025.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8812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B5B90-9CB0-4409-89A2-DA39566333B9}" type="datetime1">
              <a:rPr lang="hr-HR" smtClean="0"/>
              <a:t>15.1.2025.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437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C004-70F7-4C97-9947-702C175B2047}" type="datetime1">
              <a:rPr lang="hr-HR" smtClean="0"/>
              <a:t>15.1.2025.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781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47105-24BD-4206-BE09-6051D8DF5A30}" type="datetime1">
              <a:rPr lang="hr-HR" smtClean="0"/>
              <a:t>15.1.2025.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911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EA9D767-858F-4EC9-ADD3-529928E56913}" type="datetime1">
              <a:rPr lang="hr-HR" smtClean="0"/>
              <a:t>15.1.2025.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7220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151D8-37D8-4141-AE5C-976E3A606B5B}" type="datetime1">
              <a:rPr lang="hr-HR" smtClean="0"/>
              <a:t>15.1.2025.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0347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7ED3-79A9-4245-8F0F-F984ABC9CDC0}" type="datetime1">
              <a:rPr lang="hr-HR" smtClean="0"/>
              <a:t>15.1.2025.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17941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31ACD-5387-45BD-B548-1DCDFB961638}" type="datetime1">
              <a:rPr lang="hr-HR" smtClean="0"/>
              <a:t>15.1.2025.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8178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0FF488-27A0-4035-9B9A-B8D9554714E0}" type="datetime1">
              <a:rPr lang="hr-HR" smtClean="0"/>
              <a:t>15.1.2025.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90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FF00-34E4-F05B-4CF2-0A8B5E003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School mapping in ESRI imagery</a:t>
            </a:r>
            <a:endParaRPr lang="hr-HR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255326-AF42-6735-8CB8-9009BE9D7A18}"/>
              </a:ext>
            </a:extLst>
          </p:cNvPr>
          <p:cNvSpPr txBox="1">
            <a:spLocks/>
          </p:cNvSpPr>
          <p:nvPr/>
        </p:nvSpPr>
        <p:spPr>
          <a:xfrm>
            <a:off x="1097280" y="4325112"/>
            <a:ext cx="10058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Andrija </a:t>
            </a:r>
            <a:r>
              <a:rPr lang="en-US" sz="2800" dirty="0" err="1"/>
              <a:t>Gorup</a:t>
            </a:r>
            <a:r>
              <a:rPr lang="en-US" sz="2800" dirty="0"/>
              <a:t>, Dominik </a:t>
            </a:r>
            <a:r>
              <a:rPr lang="en-US" sz="2800" dirty="0" err="1"/>
              <a:t>Jambrovi</a:t>
            </a:r>
            <a:r>
              <a:rPr lang="hr-HR" sz="2800" dirty="0"/>
              <a:t>ć, Marin Kačan, Siniša Šegvić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AEFF77-6818-7F14-D523-83B7CA729C24}"/>
              </a:ext>
            </a:extLst>
          </p:cNvPr>
          <p:cNvSpPr txBox="1">
            <a:spLocks/>
          </p:cNvSpPr>
          <p:nvPr/>
        </p:nvSpPr>
        <p:spPr>
          <a:xfrm>
            <a:off x="1097280" y="5340096"/>
            <a:ext cx="10058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January</a:t>
            </a:r>
            <a:r>
              <a:rPr lang="hr-HR" sz="2400" dirty="0"/>
              <a:t> 1</a:t>
            </a:r>
            <a:r>
              <a:rPr lang="en-US" sz="2400" dirty="0"/>
              <a:t>6</a:t>
            </a:r>
            <a:r>
              <a:rPr lang="hr-HR" sz="2400" dirty="0"/>
              <a:t>th, 202</a:t>
            </a:r>
            <a:r>
              <a:rPr lang="en-US" sz="2400" dirty="0"/>
              <a:t>5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01124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A271-1EFB-E664-0007-BB69468B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last meeting</a:t>
            </a:r>
            <a:endParaRPr lang="hr-H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39E99-CCEB-B045-9B67-6CBBE019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64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66EC-01A9-BDE2-399E-7607ACF5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fine-tuning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FAAC3-DAEA-3722-1302-5B30AB889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All </a:t>
            </a:r>
            <a:r>
              <a:rPr lang="en-US" sz="2400" dirty="0" err="1"/>
              <a:t>Anditi</a:t>
            </a:r>
            <a:r>
              <a:rPr lang="en-US" sz="2400" dirty="0"/>
              <a:t> schools + equal number of OSM Vietnam non-schools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Static Gaussian non-school sampling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20 epochs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Train results</a:t>
            </a:r>
          </a:p>
          <a:p>
            <a:pPr lvl="2"/>
            <a:r>
              <a:rPr lang="en-US" sz="2000" b="1" dirty="0"/>
              <a:t>F1: 99.55%</a:t>
            </a:r>
          </a:p>
          <a:p>
            <a:pPr lvl="2"/>
            <a:r>
              <a:rPr lang="en-US" sz="2000" dirty="0"/>
              <a:t>P: 99.80%</a:t>
            </a:r>
          </a:p>
          <a:p>
            <a:pPr lvl="2"/>
            <a:r>
              <a:rPr lang="en-US" sz="2000" dirty="0"/>
              <a:t>R: 99.30%</a:t>
            </a:r>
          </a:p>
          <a:p>
            <a:pPr marL="201168" lvl="1" indent="0">
              <a:buNone/>
            </a:pPr>
            <a:endParaRPr lang="en-US" sz="2400" dirty="0"/>
          </a:p>
          <a:p>
            <a:pPr lvl="1"/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943B9-A61A-0C75-B492-836BB3B9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14477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4D12-15AF-C83D-53E5-764C158E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Dense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9DA01-6CB6-94B5-8278-256D8420C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Use</a:t>
            </a:r>
            <a:r>
              <a:rPr lang="hr-HR" sz="2400" dirty="0"/>
              <a:t> </a:t>
            </a:r>
            <a:r>
              <a:rPr lang="en-US" sz="2400" dirty="0"/>
              <a:t>fine-tuned model on </a:t>
            </a:r>
            <a:r>
              <a:rPr lang="en-US" sz="2400" b="1" dirty="0"/>
              <a:t>overlapping satellite images</a:t>
            </a:r>
            <a:r>
              <a:rPr lang="en-US" sz="2400" dirty="0"/>
              <a:t> (tiles) from chosen districts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Perform non-maximum suppression (</a:t>
            </a:r>
            <a:r>
              <a:rPr lang="en-US" sz="2400" b="1" dirty="0"/>
              <a:t>NMS</a:t>
            </a:r>
            <a:r>
              <a:rPr lang="en-US" sz="2400" dirty="0"/>
              <a:t>) to reduce the number of duplicate detections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Measure </a:t>
            </a:r>
            <a:r>
              <a:rPr lang="en-US" sz="2400" b="1" dirty="0"/>
              <a:t>number of detected </a:t>
            </a:r>
            <a:r>
              <a:rPr lang="en-US" sz="2400" b="1" dirty="0" err="1"/>
              <a:t>Anditi</a:t>
            </a:r>
            <a:r>
              <a:rPr lang="en-US" sz="2400" b="1" dirty="0"/>
              <a:t> schools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Deliver </a:t>
            </a:r>
            <a:r>
              <a:rPr lang="en-US" sz="2400" b="1" dirty="0"/>
              <a:t>list of potential schools </a:t>
            </a:r>
            <a:r>
              <a:rPr lang="en-US" sz="2400" dirty="0"/>
              <a:t>sorted by prediction confidence</a:t>
            </a:r>
            <a:endParaRPr lang="hr-HR" sz="2400" dirty="0"/>
          </a:p>
          <a:p>
            <a:pPr marL="201168" lvl="1" indent="0">
              <a:buNone/>
            </a:pPr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B7E46-84AA-C294-3543-BD508C49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0128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85115-DDD2-59BA-D33F-73DBC17A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08D2-A053-BA4C-122A-0FAC6FFC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Dense inference</a:t>
            </a:r>
            <a:r>
              <a:rPr lang="en-US" dirty="0"/>
              <a:t> results (after NMS)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2799-A9B7-C71D-C7A2-FA6AEE1D2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Found 900/946 (</a:t>
            </a:r>
            <a:r>
              <a:rPr lang="en-US" sz="2400" b="1" dirty="0"/>
              <a:t>95.14%</a:t>
            </a:r>
            <a:r>
              <a:rPr lang="en-US" sz="2400" dirty="0"/>
              <a:t>)</a:t>
            </a:r>
            <a:r>
              <a:rPr lang="en-US" sz="2400" b="1" dirty="0"/>
              <a:t> </a:t>
            </a:r>
            <a:r>
              <a:rPr lang="en-US" sz="2400" dirty="0" err="1"/>
              <a:t>Anditi</a:t>
            </a:r>
            <a:r>
              <a:rPr lang="en-US" sz="2400" dirty="0"/>
              <a:t> schools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Recall (min probs): 95.14%</a:t>
            </a:r>
          </a:p>
          <a:p>
            <a:pPr lvl="1"/>
            <a:r>
              <a:rPr lang="en-US" sz="2400" dirty="0"/>
              <a:t>Recall (mean probs): 95.14%</a:t>
            </a:r>
          </a:p>
          <a:p>
            <a:pPr lvl="1"/>
            <a:r>
              <a:rPr lang="en-US" sz="2400" dirty="0"/>
              <a:t>Recall (max probs): 95.14%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46 not detected schools (</a:t>
            </a:r>
            <a:r>
              <a:rPr lang="en-US" sz="2400" b="1" dirty="0"/>
              <a:t>4.86%</a:t>
            </a:r>
            <a:r>
              <a:rPr lang="en-US" sz="2400" dirty="0"/>
              <a:t>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List of potential schools: </a:t>
            </a:r>
            <a:r>
              <a:rPr lang="en-US" sz="2400" b="1" dirty="0"/>
              <a:t>9573 images </a:t>
            </a:r>
            <a:endParaRPr lang="hr-HR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47BBB-1A02-75C1-AC3F-7D66D9FB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53098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D508-455C-CDE7-68DC-A289148E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FF84-4F70-F199-7FC0-8C246E90F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B5C39-89CA-D8C9-0414-33A3BEFC2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No dataset for evaluating the final fine-tuned model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Only measured recall, not precision and </a:t>
            </a:r>
            <a:r>
              <a:rPr lang="en-US" sz="2400" b="1" dirty="0"/>
              <a:t>F1 score</a:t>
            </a:r>
            <a:endParaRPr lang="hr-HR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E443D-21F6-57BD-534A-D75E52E7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70933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8C4C-ADFA-E377-A608-96ED92F2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New contributions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2EDB9-7240-C743-A2C6-0614DD31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63264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5080-0FC4-286E-A439-F65A3627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0F9A6-810B-C651-B642-35FEC8CB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validation datasets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83042-BB2B-ED39-A052-0660EFBB9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Two hand-collected datasets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Can be used for evaluating the final fine-tuned model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B6143-CE7C-BB7B-CC45-7CE5FA06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2929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C6BF8-2645-335B-179E-3A1A67F83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1A63-4CA0-F8D6-F3C1-1C5CFEEA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Exhaustive (narrow) dataset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06317-CCF1-8129-8E73-AE7C125BA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Locations from 4 wards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110 schools </a:t>
            </a:r>
            <a:r>
              <a:rPr lang="en-US" sz="2400" dirty="0"/>
              <a:t>(exhaustive search)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1163 overlapping tiles </a:t>
            </a:r>
            <a:r>
              <a:rPr lang="en-US" sz="2400" dirty="0"/>
              <a:t>total (after filtering)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Can be used for calculating precision, recall and </a:t>
            </a:r>
            <a:r>
              <a:rPr lang="en-US" sz="2400" b="1" dirty="0"/>
              <a:t>F1 score</a:t>
            </a:r>
            <a:endParaRPr lang="hr-HR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923F7-199B-DB78-C203-AEE4CD83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59214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F93E-E544-2553-22F8-8CF82419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275F1-9797-BDFA-2561-4EFFB925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dataset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FD016-FD43-6767-A8A2-868E180F4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Locations from 5 districts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93 schools </a:t>
            </a:r>
            <a:r>
              <a:rPr lang="en-US" sz="2400" dirty="0"/>
              <a:t>(not exhaustive search!)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20 981 overlapping tiles</a:t>
            </a:r>
            <a:r>
              <a:rPr lang="en-US" sz="2400" dirty="0"/>
              <a:t> total (after filtering)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Can be used for calculating recall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CB75F-135C-A7BC-6C35-8BE92C57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32597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BAA6-E551-BC82-95F6-C4FA4D6D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797F-1ED1-34BE-0A0F-0D1EE829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validation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8D91-42A2-DCBA-68FA-77F71E3A0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We want to determine the ideal classification threshold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Get dense inference predictions for exhaustive dataset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Measure F1 score on predictions for variable thresholds (0-1)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Pick threshold with the highest F1 score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Get recall, precision and F1 score for chosen threshold 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D940A-0297-7717-4E28-6EE03B24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24364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798B8-BA94-759B-3345-2600A45F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0AB5-581C-06C3-E240-B2F0933C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validation, 1:1 model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0D785-C868-5E87-B332-6565DDB9B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Fine-tuned for </a:t>
            </a:r>
            <a:r>
              <a:rPr lang="en-US" sz="2400" b="1" dirty="0"/>
              <a:t>20 epochs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Dynamic Gaussian </a:t>
            </a:r>
            <a:r>
              <a:rPr lang="en-US" sz="2400" dirty="0"/>
              <a:t>non-school sampling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School : non-school ratio – </a:t>
            </a:r>
            <a:r>
              <a:rPr lang="en-US" sz="2400" b="1" dirty="0"/>
              <a:t>1 : 1</a:t>
            </a:r>
            <a:br>
              <a:rPr lang="en-US" sz="2400" dirty="0"/>
            </a:b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DB544-0D66-3A7D-454A-F18E173F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80919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EA45-CB65-EC84-4B9F-EA45EEB6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a line drawn on it&#10;&#10;Description automatically generated">
            <a:extLst>
              <a:ext uri="{FF2B5EF4-FFF2-40B4-BE49-F238E27FC236}">
                <a16:creationId xmlns:a16="http://schemas.microsoft.com/office/drawing/2014/main" id="{8F90D9BD-A5DD-83F1-8F7A-87A4B419E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1775310"/>
            <a:ext cx="5852172" cy="43891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1339B2-71D6-50E1-1736-31441FE4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validation, 1:1 model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AC539-6C0E-129A-E594-F58F69D8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13</a:t>
            </a:fld>
            <a:endParaRPr lang="hr-HR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E90496-A38B-26BD-9D91-959038551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lnSpcReduction="10000"/>
          </a:bodyPr>
          <a:lstStyle/>
          <a:p>
            <a:pPr lvl="1"/>
            <a:endParaRPr lang="en-US" sz="24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lvl="1"/>
            <a:endParaRPr lang="en-US" sz="2400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pPr lvl="1"/>
            <a:r>
              <a:rPr lang="en-US" sz="2400" b="1" i="0" dirty="0">
                <a:solidFill>
                  <a:srgbClr val="242424"/>
                </a:solidFill>
                <a:effectLst/>
              </a:rPr>
              <a:t>Final threshold: 3.61%</a:t>
            </a:r>
          </a:p>
          <a:p>
            <a:pPr lvl="1"/>
            <a:endParaRPr lang="en-US" sz="2400" b="0" i="0" dirty="0">
              <a:solidFill>
                <a:srgbClr val="242424"/>
              </a:solidFill>
              <a:effectLst/>
            </a:endParaRPr>
          </a:p>
          <a:p>
            <a:pPr lvl="1"/>
            <a:r>
              <a:rPr lang="en-US" sz="2400" b="0" i="0" dirty="0">
                <a:solidFill>
                  <a:srgbClr val="242424"/>
                </a:solidFill>
                <a:effectLst/>
              </a:rPr>
              <a:t>Final precision: 45.34%</a:t>
            </a:r>
            <a:br>
              <a:rPr lang="en-US" sz="2400" dirty="0"/>
            </a:br>
            <a:endParaRPr lang="en-US" sz="2400" dirty="0"/>
          </a:p>
          <a:p>
            <a:pPr lvl="1"/>
            <a:r>
              <a:rPr lang="en-US" sz="2400" b="0" i="0" dirty="0">
                <a:solidFill>
                  <a:srgbClr val="242424"/>
                </a:solidFill>
                <a:effectLst/>
              </a:rPr>
              <a:t>Final recall: 97.27%</a:t>
            </a:r>
            <a:br>
              <a:rPr lang="en-US" sz="2400" dirty="0"/>
            </a:br>
            <a:endParaRPr lang="en-US" sz="2400" dirty="0"/>
          </a:p>
          <a:p>
            <a:pPr lvl="1"/>
            <a:r>
              <a:rPr lang="en-US" sz="2400" b="1" i="0" dirty="0">
                <a:solidFill>
                  <a:srgbClr val="242424"/>
                </a:solidFill>
                <a:effectLst/>
              </a:rPr>
              <a:t>Final F1 score: 61.85%</a:t>
            </a:r>
            <a:endParaRPr lang="en-US" sz="2400" b="1" dirty="0"/>
          </a:p>
          <a:p>
            <a:pPr marL="201168" lvl="1" indent="0">
              <a:buNone/>
            </a:pPr>
            <a:br>
              <a:rPr lang="en-US" sz="2400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83070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1F12-296B-A9F5-E32D-323877198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889C4-C5C6-A02C-62E5-788D95584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validation, 1:10 model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FD6ED-CDD6-185E-285B-912642E97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Fine-tuned for </a:t>
            </a:r>
            <a:r>
              <a:rPr lang="en-US" sz="2400" b="1" dirty="0"/>
              <a:t>20 epochs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Dynamic Gaussian </a:t>
            </a:r>
            <a:r>
              <a:rPr lang="en-US" sz="2400" dirty="0"/>
              <a:t>non-school sampling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School : non-school ratio – </a:t>
            </a:r>
            <a:r>
              <a:rPr lang="en-US" sz="2400" b="1" dirty="0"/>
              <a:t>1 :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8A545-41DE-014E-0C9D-4562F631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94637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A84F5-20FD-5F0D-94C2-35B7C6295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0A52-96E0-754E-6552-D3D87932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validation, 1:10 model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B0B10-1A35-02E6-746D-6FF0CCC05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endParaRPr lang="en-US" sz="24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lvl="1"/>
            <a:endParaRPr lang="en-US" sz="2400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pPr lvl="1"/>
            <a:r>
              <a:rPr lang="en-US" sz="2400" b="1" i="0" dirty="0">
                <a:solidFill>
                  <a:srgbClr val="242424"/>
                </a:solidFill>
                <a:effectLst/>
              </a:rPr>
              <a:t>Final threshold: 4.04%</a:t>
            </a:r>
          </a:p>
          <a:p>
            <a:pPr lvl="1"/>
            <a:endParaRPr lang="en-US" sz="2400" b="0" i="0" dirty="0">
              <a:solidFill>
                <a:srgbClr val="242424"/>
              </a:solidFill>
              <a:effectLst/>
            </a:endParaRPr>
          </a:p>
          <a:p>
            <a:pPr lvl="1"/>
            <a:r>
              <a:rPr lang="en-US" sz="2400" b="0" i="0" dirty="0">
                <a:solidFill>
                  <a:srgbClr val="242424"/>
                </a:solidFill>
                <a:effectLst/>
              </a:rPr>
              <a:t>Final precision: 51.10%</a:t>
            </a:r>
            <a:br>
              <a:rPr lang="en-US" sz="2400" dirty="0"/>
            </a:br>
            <a:endParaRPr lang="en-US" sz="2400" dirty="0"/>
          </a:p>
          <a:p>
            <a:pPr lvl="1"/>
            <a:r>
              <a:rPr lang="en-US" sz="2400" b="0" i="0" dirty="0">
                <a:solidFill>
                  <a:srgbClr val="242424"/>
                </a:solidFill>
                <a:effectLst/>
              </a:rPr>
              <a:t>Final recall: 84.55%</a:t>
            </a:r>
            <a:br>
              <a:rPr lang="en-US" sz="2400" dirty="0"/>
            </a:br>
            <a:endParaRPr lang="en-US" sz="2400" dirty="0"/>
          </a:p>
          <a:p>
            <a:pPr lvl="1"/>
            <a:r>
              <a:rPr lang="en-US" sz="2400" b="1" i="0" dirty="0">
                <a:solidFill>
                  <a:srgbClr val="242424"/>
                </a:solidFill>
                <a:effectLst/>
              </a:rPr>
              <a:t>Final F1 score: 63.70%</a:t>
            </a:r>
            <a:endParaRPr lang="en-US" sz="2400" b="1" dirty="0"/>
          </a:p>
          <a:p>
            <a:pPr marL="201168" lvl="1" indent="0">
              <a:buNone/>
            </a:pPr>
            <a:br>
              <a:rPr lang="en-US" sz="2400" dirty="0"/>
            </a:b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CEE77-5B89-6F71-CD41-A2B7CE73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15</a:t>
            </a:fld>
            <a:endParaRPr lang="hr-HR"/>
          </a:p>
        </p:txBody>
      </p:sp>
      <p:pic>
        <p:nvPicPr>
          <p:cNvPr id="6" name="Picture 5" descr="A graph with a line drawn on it&#10;&#10;Description automatically generated">
            <a:extLst>
              <a:ext uri="{FF2B5EF4-FFF2-40B4-BE49-F238E27FC236}">
                <a16:creationId xmlns:a16="http://schemas.microsoft.com/office/drawing/2014/main" id="{62EE0E4A-3ABC-86FF-44AE-0C2B88DDD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75310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04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DCE65-18AE-6BD8-95BA-20A8CD10C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5E320-887E-DB5B-53B3-D56E4D64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311938" cy="1450757"/>
          </a:xfrm>
        </p:spPr>
        <p:txBody>
          <a:bodyPr/>
          <a:lstStyle/>
          <a:p>
            <a:r>
              <a:rPr lang="en-US" dirty="0"/>
              <a:t>Threshold validation, 1:10 model, 1 epoch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12CE6-F5AC-C992-8D5C-B3DC047AE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Fine-tuned for </a:t>
            </a:r>
            <a:r>
              <a:rPr lang="en-US" sz="2400" b="1" dirty="0"/>
              <a:t>1 epoch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Dynamic Gaussian </a:t>
            </a:r>
            <a:r>
              <a:rPr lang="en-US" sz="2400" dirty="0"/>
              <a:t>non-school sampling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School : non-school ratio – </a:t>
            </a:r>
            <a:r>
              <a:rPr lang="en-US" sz="2400" b="1" dirty="0"/>
              <a:t>1 :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58095-05E7-18ED-A482-D2745337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77588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1ACAC-F473-CD8E-CBFF-2E85F02EF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with a line&#10;&#10;Description automatically generated">
            <a:extLst>
              <a:ext uri="{FF2B5EF4-FFF2-40B4-BE49-F238E27FC236}">
                <a16:creationId xmlns:a16="http://schemas.microsoft.com/office/drawing/2014/main" id="{2B39C099-4F1F-F357-8BA4-DB2682194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175" y="1775309"/>
            <a:ext cx="5852172" cy="43891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E20E62-9E3A-EC4E-CF8F-71E3C9C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325793" cy="1450757"/>
          </a:xfrm>
        </p:spPr>
        <p:txBody>
          <a:bodyPr/>
          <a:lstStyle/>
          <a:p>
            <a:r>
              <a:rPr lang="en-US" dirty="0"/>
              <a:t>Threshold validation, 1:10 model, 1 epoch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E0BD-E8A2-80B9-D323-56B8CC90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17</a:t>
            </a:fld>
            <a:endParaRPr lang="hr-HR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3C6F23-A910-5C43-E6ED-B8AA1FEF8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lnSpcReduction="10000"/>
          </a:bodyPr>
          <a:lstStyle/>
          <a:p>
            <a:pPr lvl="1"/>
            <a:endParaRPr lang="en-US" sz="24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lvl="1"/>
            <a:endParaRPr lang="en-US" sz="2400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pPr lvl="1"/>
            <a:r>
              <a:rPr lang="en-US" sz="2400" b="1" i="0" dirty="0">
                <a:solidFill>
                  <a:srgbClr val="242424"/>
                </a:solidFill>
                <a:effectLst/>
              </a:rPr>
              <a:t>Final threshold: 6.33%</a:t>
            </a:r>
          </a:p>
          <a:p>
            <a:pPr lvl="1"/>
            <a:endParaRPr lang="en-US" sz="2400" b="0" i="0" dirty="0">
              <a:solidFill>
                <a:srgbClr val="242424"/>
              </a:solidFill>
              <a:effectLst/>
            </a:endParaRPr>
          </a:p>
          <a:p>
            <a:pPr lvl="1"/>
            <a:r>
              <a:rPr lang="en-US" sz="2400" b="0" i="0" dirty="0">
                <a:solidFill>
                  <a:srgbClr val="242424"/>
                </a:solidFill>
                <a:effectLst/>
              </a:rPr>
              <a:t>Final precision: 63.16%</a:t>
            </a:r>
            <a:br>
              <a:rPr lang="en-US" sz="2400" dirty="0"/>
            </a:br>
            <a:endParaRPr lang="en-US" sz="2400" dirty="0"/>
          </a:p>
          <a:p>
            <a:pPr lvl="1"/>
            <a:r>
              <a:rPr lang="en-US" sz="2400" b="0" i="0" dirty="0">
                <a:solidFill>
                  <a:srgbClr val="242424"/>
                </a:solidFill>
                <a:effectLst/>
              </a:rPr>
              <a:t>Final recall: 76.36%</a:t>
            </a:r>
            <a:br>
              <a:rPr lang="en-US" sz="2400" dirty="0"/>
            </a:br>
            <a:endParaRPr lang="en-US" sz="2400" dirty="0"/>
          </a:p>
          <a:p>
            <a:pPr lvl="1"/>
            <a:r>
              <a:rPr lang="en-US" sz="2400" b="1" i="0" dirty="0">
                <a:solidFill>
                  <a:srgbClr val="242424"/>
                </a:solidFill>
                <a:effectLst/>
              </a:rPr>
              <a:t>Final F1 score: 69.14%</a:t>
            </a:r>
            <a:endParaRPr lang="en-US" sz="2400" b="1" dirty="0"/>
          </a:p>
          <a:p>
            <a:pPr marL="201168" lvl="1" indent="0">
              <a:buNone/>
            </a:pPr>
            <a:br>
              <a:rPr lang="en-US" sz="2400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27898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1FFC6-64BB-C03A-47C4-410C039A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5A31-AB74-11C2-4FBF-95DD1D6C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311938" cy="1450757"/>
          </a:xfrm>
        </p:spPr>
        <p:txBody>
          <a:bodyPr/>
          <a:lstStyle/>
          <a:p>
            <a:r>
              <a:rPr lang="en-US" dirty="0"/>
              <a:t>Conclusion &amp; Future work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62F95-71D6-AC0A-0129-5A4A866DF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Fine-tuning for 20 epochs may overfit the model to </a:t>
            </a:r>
            <a:r>
              <a:rPr lang="en-US" sz="2400" dirty="0" err="1"/>
              <a:t>Anditi</a:t>
            </a:r>
            <a:r>
              <a:rPr lang="en-US" sz="2400" dirty="0"/>
              <a:t> dataset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Explore and test options for reducing the overfitting of our model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Validate newly fine-tuned model on exhaustive, narrow and </a:t>
            </a:r>
            <a:r>
              <a:rPr lang="en-US" sz="2400" dirty="0" err="1"/>
              <a:t>Anditi</a:t>
            </a:r>
            <a:r>
              <a:rPr lang="en-US" sz="2400" dirty="0"/>
              <a:t>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A7E2B-E69E-1EFF-CBEA-EB869331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709063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439</TotalTime>
  <Words>505</Words>
  <Application>Microsoft Office PowerPoint</Application>
  <PresentationFormat>Widescreen</PresentationFormat>
  <Paragraphs>136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Calibri</vt:lpstr>
      <vt:lpstr>Calibri Light</vt:lpstr>
      <vt:lpstr>Segoe UI</vt:lpstr>
      <vt:lpstr>Retrospect</vt:lpstr>
      <vt:lpstr>School mapping in ESRI imagery</vt:lpstr>
      <vt:lpstr>Recap from last meeting</vt:lpstr>
      <vt:lpstr>Model fine-tuning</vt:lpstr>
      <vt:lpstr>Dense inference</vt:lpstr>
      <vt:lpstr>Dense inference results (after NMS)</vt:lpstr>
      <vt:lpstr>Problems</vt:lpstr>
      <vt:lpstr>New contributions</vt:lpstr>
      <vt:lpstr>New validation datasets</vt:lpstr>
      <vt:lpstr>Exhaustive (narrow) dataset</vt:lpstr>
      <vt:lpstr>Wide dataset</vt:lpstr>
      <vt:lpstr>Threshold validation</vt:lpstr>
      <vt:lpstr>Threshold validation, 1:1 model</vt:lpstr>
      <vt:lpstr>Threshold validation, 1:1 model</vt:lpstr>
      <vt:lpstr>Threshold validation, 1:10 model</vt:lpstr>
      <vt:lpstr>Threshold validation, 1:10 model</vt:lpstr>
      <vt:lpstr>Threshold validation, 1:10 model, 1 epoch</vt:lpstr>
      <vt:lpstr>Threshold validation, 1:10 model, 1 epoch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Jambrovic</dc:creator>
  <cp:lastModifiedBy>Dominik Jambrovic</cp:lastModifiedBy>
  <cp:revision>22</cp:revision>
  <dcterms:created xsi:type="dcterms:W3CDTF">2024-10-22T16:37:25Z</dcterms:created>
  <dcterms:modified xsi:type="dcterms:W3CDTF">2025-01-15T19:46:38Z</dcterms:modified>
</cp:coreProperties>
</file>