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7"/>
  </p:notesMasterIdLst>
  <p:sldIdLst>
    <p:sldId id="256" r:id="rId2"/>
    <p:sldId id="258" r:id="rId3"/>
    <p:sldId id="296" r:id="rId4"/>
    <p:sldId id="298" r:id="rId5"/>
    <p:sldId id="302" r:id="rId6"/>
    <p:sldId id="303" r:id="rId7"/>
    <p:sldId id="297" r:id="rId8"/>
    <p:sldId id="304" r:id="rId9"/>
    <p:sldId id="305" r:id="rId10"/>
    <p:sldId id="306" r:id="rId11"/>
    <p:sldId id="307" r:id="rId12"/>
    <p:sldId id="316" r:id="rId13"/>
    <p:sldId id="317" r:id="rId14"/>
    <p:sldId id="314" r:id="rId15"/>
    <p:sldId id="31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16.1.2025.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16.1.2025.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16.1.2025.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16.1.2025.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16.1.2025.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16.1.2025.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16.1.2025.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16.1.2025.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16.1.2025.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16.1.2025.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16.1.2025.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16.1.2025.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16.1.2025.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January</a:t>
            </a:r>
            <a:r>
              <a:rPr lang="hr-HR" sz="2400" dirty="0"/>
              <a:t> 1</a:t>
            </a:r>
            <a:r>
              <a:rPr lang="en-US" sz="2400" dirty="0"/>
              <a:t>6</a:t>
            </a:r>
            <a:r>
              <a:rPr lang="hr-HR" sz="2400" dirty="0"/>
              <a:t>th, 202</a:t>
            </a:r>
            <a:r>
              <a:rPr lang="en-US" sz="2400" dirty="0"/>
              <a:t>5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A271-1EFB-E664-0007-BB69468B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last meeting</a:t>
            </a:r>
            <a:endParaRPr lang="hr-H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39E99-CCEB-B045-9B67-6CBBE0199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4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766EC-01A9-BDE2-399E-7607ACF57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fine-tuning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FAAC3-DAEA-3722-1302-5B30AB889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All </a:t>
            </a:r>
            <a:r>
              <a:rPr lang="en-US" sz="2400" dirty="0" err="1"/>
              <a:t>Anditi</a:t>
            </a:r>
            <a:r>
              <a:rPr lang="en-US" sz="2400" dirty="0"/>
              <a:t> schools + equal number of OSM Vietnam non-schools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Static Gaussian non-school sampling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Train results</a:t>
            </a:r>
          </a:p>
          <a:p>
            <a:pPr lvl="2"/>
            <a:r>
              <a:rPr lang="en-US" sz="2000" b="1" dirty="0"/>
              <a:t>F1: 99.55%</a:t>
            </a:r>
          </a:p>
          <a:p>
            <a:pPr lvl="2"/>
            <a:r>
              <a:rPr lang="en-US" sz="2000" dirty="0"/>
              <a:t>P: 99.80%</a:t>
            </a:r>
          </a:p>
          <a:p>
            <a:pPr lvl="2"/>
            <a:r>
              <a:rPr lang="en-US" sz="2000" dirty="0"/>
              <a:t>R: 99.30%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E943B9-A61A-0C75-B492-836BB3B97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14477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4D12-15AF-C83D-53E5-764C158EC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9DA01-6CB6-94B5-8278-256D8420C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Use</a:t>
            </a:r>
            <a:r>
              <a:rPr lang="hr-HR" sz="2400" dirty="0"/>
              <a:t> </a:t>
            </a:r>
            <a:r>
              <a:rPr lang="en-US" sz="2400" dirty="0"/>
              <a:t>fine-tuned model on </a:t>
            </a:r>
            <a:r>
              <a:rPr lang="en-US" sz="2400" b="1" dirty="0"/>
              <a:t>overlapping satellite images</a:t>
            </a:r>
            <a:r>
              <a:rPr lang="en-US" sz="2400" dirty="0"/>
              <a:t> (tiles) from chosen districts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Perform non-maximum suppression (</a:t>
            </a:r>
            <a:r>
              <a:rPr lang="en-US" sz="2400" b="1" dirty="0"/>
              <a:t>NMS</a:t>
            </a:r>
            <a:r>
              <a:rPr lang="en-US" sz="2400" dirty="0"/>
              <a:t>) to reduce the number of duplicate detections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number of detected </a:t>
            </a:r>
            <a:r>
              <a:rPr lang="en-US" sz="2400" b="1" dirty="0" err="1"/>
              <a:t>Anditi</a:t>
            </a:r>
            <a:r>
              <a:rPr lang="en-US" sz="2400" b="1" dirty="0"/>
              <a:t> schools (train data)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Deliver </a:t>
            </a:r>
            <a:r>
              <a:rPr lang="en-US" sz="2400" b="1" dirty="0"/>
              <a:t>list of potential schools </a:t>
            </a:r>
            <a:r>
              <a:rPr lang="en-US" sz="2400" dirty="0"/>
              <a:t>sorted by prediction confidence</a:t>
            </a:r>
            <a:endParaRPr lang="hr-HR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B7E46-84AA-C294-3543-BD508C49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128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85115-DDD2-59BA-D33F-73DBC17A7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08D2-A053-BA4C-122A-0FAC6FFCA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  <a:r>
              <a:rPr lang="en-US" dirty="0"/>
              <a:t> results (after NMS)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2799-A9B7-C71D-C7A2-FA6AEE1D2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r>
              <a:rPr lang="hr-HR" sz="2400" dirty="0"/>
              <a:t>Check performance on </a:t>
            </a:r>
            <a:r>
              <a:rPr lang="hr-HR" sz="2400" b="1" dirty="0"/>
              <a:t>train data (Anditi schools) </a:t>
            </a:r>
            <a:r>
              <a:rPr lang="hr-HR" sz="2400" dirty="0"/>
              <a:t>–</a:t>
            </a:r>
            <a:r>
              <a:rPr lang="en-US" sz="2400" dirty="0"/>
              <a:t> sanity check before evaluation</a:t>
            </a:r>
            <a:endParaRPr lang="hr-HR" sz="2400" dirty="0"/>
          </a:p>
          <a:p>
            <a:pPr lvl="1"/>
            <a:endParaRPr lang="hr-HR" sz="2400" dirty="0"/>
          </a:p>
          <a:p>
            <a:pPr lvl="1"/>
            <a:r>
              <a:rPr lang="en-US" sz="2400" dirty="0"/>
              <a:t>Found 900/946 (</a:t>
            </a:r>
            <a:r>
              <a:rPr lang="en-US" sz="2400" b="1" dirty="0"/>
              <a:t>95.14%</a:t>
            </a:r>
            <a:r>
              <a:rPr lang="en-US" sz="2400" dirty="0"/>
              <a:t>)</a:t>
            </a:r>
            <a:r>
              <a:rPr lang="en-US" sz="2400" b="1" dirty="0"/>
              <a:t> </a:t>
            </a:r>
            <a:r>
              <a:rPr lang="en-US" sz="2400" dirty="0" err="1"/>
              <a:t>Anditi</a:t>
            </a:r>
            <a:r>
              <a:rPr lang="en-US" sz="2400" dirty="0"/>
              <a:t> 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Recall: 95.14%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46 not detected schools (</a:t>
            </a:r>
            <a:r>
              <a:rPr lang="en-US" sz="2400" b="1" dirty="0"/>
              <a:t>4.86%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List of potential schools: </a:t>
            </a:r>
            <a:r>
              <a:rPr lang="en-US" sz="2400" b="1" dirty="0"/>
              <a:t>9573 images 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47BBB-1A02-75C1-AC3F-7D66D9FB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3098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9D508-455C-CDE7-68DC-A289148E7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0FF84-4F70-F199-7FC0-8C246E90F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B5C39-89CA-D8C9-0414-33A3BEFC2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No dataset for evaluating the final fine-tuned model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Only measured train recall, not precision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E443D-21F6-57BD-534A-D75E52E71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0933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C4C-ADFA-E377-A608-96ED92F2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New contributions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2EDB9-7240-C743-A2C6-0614DD316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6326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F5080-0FC4-286E-A439-F65A36274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9A6-810B-C651-B642-35FEC8CBD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validation datasets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83042-BB2B-ED39-A052-0660EFBB9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have hand-collected two subsets of school locations:</a:t>
            </a:r>
          </a:p>
          <a:p>
            <a:pPr lvl="1"/>
            <a:endParaRPr lang="en-US" sz="2400" dirty="0"/>
          </a:p>
          <a:p>
            <a:pPr lvl="2"/>
            <a:r>
              <a:rPr lang="en-US" sz="2400" dirty="0"/>
              <a:t>Exhaustive dataset</a:t>
            </a:r>
          </a:p>
          <a:p>
            <a:pPr marL="384048" lvl="2" indent="0">
              <a:buNone/>
            </a:pPr>
            <a:endParaRPr lang="en-US" sz="2400" dirty="0"/>
          </a:p>
          <a:p>
            <a:pPr lvl="2"/>
            <a:r>
              <a:rPr lang="en-US" sz="2400" dirty="0"/>
              <a:t>Wide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evaluating the final fine-tuned model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B6143-CE7C-BB7B-CC45-7CE5FA06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29299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C6BF8-2645-335B-179E-3A1A67F8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1A63-4CA0-F8D6-F3C1-1C5CFEEA4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Exhaustive (narrow)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06317-CCF1-8129-8E73-AE7C125BA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/>
            <a:r>
              <a:rPr lang="en-US" sz="2400" dirty="0"/>
              <a:t>Locations from 4 </a:t>
            </a:r>
            <a:r>
              <a:rPr lang="hr-HR" sz="2400" dirty="0"/>
              <a:t>subdistricts (wards) from </a:t>
            </a:r>
            <a:r>
              <a:rPr lang="it-IT" sz="2400" b="1" dirty="0"/>
              <a:t>Thủ Đức</a:t>
            </a:r>
            <a:r>
              <a:rPr lang="hr-HR" sz="2400" b="1" dirty="0"/>
              <a:t> District</a:t>
            </a:r>
            <a:r>
              <a:rPr lang="hr-HR" sz="2400" dirty="0"/>
              <a:t>:  </a:t>
            </a:r>
          </a:p>
          <a:p>
            <a:pPr lvl="2"/>
            <a:r>
              <a:rPr lang="hr-HR" sz="2400" dirty="0"/>
              <a:t>Linh Xuan Ward</a:t>
            </a:r>
          </a:p>
          <a:p>
            <a:pPr lvl="2"/>
            <a:r>
              <a:rPr lang="hr-HR" sz="2400" dirty="0"/>
              <a:t>Binh Chieu Ward</a:t>
            </a:r>
          </a:p>
          <a:p>
            <a:pPr lvl="2"/>
            <a:r>
              <a:rPr lang="hr-HR" sz="2400" dirty="0"/>
              <a:t>Tam Binh Ward</a:t>
            </a:r>
          </a:p>
          <a:p>
            <a:pPr lvl="2"/>
            <a:r>
              <a:rPr lang="hr-HR" sz="2400" dirty="0"/>
              <a:t>Hiep Binh Phuoc Ward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110 schools </a:t>
            </a:r>
            <a:r>
              <a:rPr lang="en-US" sz="2400" dirty="0"/>
              <a:t>(exhaustive search)</a:t>
            </a:r>
            <a:r>
              <a:rPr lang="hr-HR" sz="2400" dirty="0"/>
              <a:t>, </a:t>
            </a:r>
            <a:r>
              <a:rPr lang="en-US" sz="2400" b="1" dirty="0"/>
              <a:t>1163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precision, recall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923F7-199B-DB78-C203-AEE4CD83C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59214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F93E-E544-2553-22F8-8CF824196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275F1-9797-BDFA-2561-4EFFB925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FD016-FD43-6767-A8A2-868E180F4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Locations from 5 districts</a:t>
            </a:r>
            <a:r>
              <a:rPr lang="hr-HR" sz="2400" dirty="0"/>
              <a:t>:</a:t>
            </a:r>
          </a:p>
          <a:p>
            <a:pPr lvl="2"/>
            <a:r>
              <a:rPr lang="en-US" sz="2400" dirty="0"/>
              <a:t>Lê </a:t>
            </a:r>
            <a:r>
              <a:rPr lang="en-US" sz="2400" dirty="0" err="1"/>
              <a:t>Chân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/>
              <a:t>Hoài </a:t>
            </a:r>
            <a:r>
              <a:rPr lang="en-US" sz="2400" dirty="0" err="1"/>
              <a:t>Đức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 err="1"/>
              <a:t>Cà</a:t>
            </a:r>
            <a:r>
              <a:rPr lang="en-US" sz="2400" dirty="0"/>
              <a:t> Mau</a:t>
            </a:r>
          </a:p>
          <a:p>
            <a:pPr lvl="2"/>
            <a:r>
              <a:rPr lang="en-US" sz="2400" dirty="0" err="1"/>
              <a:t>Bà</a:t>
            </a:r>
            <a:r>
              <a:rPr lang="en-US" sz="2400" dirty="0"/>
              <a:t> </a:t>
            </a:r>
            <a:r>
              <a:rPr lang="en-US" sz="2400" dirty="0" err="1"/>
              <a:t>Rịa</a:t>
            </a:r>
            <a:endParaRPr lang="en-US" sz="2400" dirty="0"/>
          </a:p>
          <a:p>
            <a:pPr lvl="2"/>
            <a:r>
              <a:rPr lang="en-US" sz="2400" dirty="0" err="1"/>
              <a:t>Sóc</a:t>
            </a:r>
            <a:r>
              <a:rPr lang="en-US" sz="2400" dirty="0"/>
              <a:t> </a:t>
            </a:r>
            <a:r>
              <a:rPr lang="en-US" sz="2400" dirty="0" err="1"/>
              <a:t>Trăng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93 schools </a:t>
            </a:r>
            <a:r>
              <a:rPr lang="en-US" sz="2400" dirty="0"/>
              <a:t>(not exhaustive search!)</a:t>
            </a:r>
            <a:r>
              <a:rPr lang="hr-HR" sz="2400" dirty="0"/>
              <a:t>, </a:t>
            </a:r>
            <a:r>
              <a:rPr lang="en-US" sz="2400" b="1" dirty="0"/>
              <a:t>20 981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recall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CB75F-135C-A7BC-6C35-8BE92C572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32597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BAA6-E551-BC82-95F6-C4FA4D6D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F797F-1ED1-34BE-0A0F-0D1EE829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28D91-42A2-DCBA-68FA-77F71E3A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want to determine the ideal classification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dense inference predictions for exhaustive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F1 score on predictions for </a:t>
            </a:r>
            <a:r>
              <a:rPr lang="en-US" sz="2400" b="1" dirty="0"/>
              <a:t>variable thresholds (0-1)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Pick threshold with the </a:t>
            </a:r>
            <a:r>
              <a:rPr lang="en-US" sz="2400" b="1" dirty="0"/>
              <a:t>highest F1 score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recall, precision and F1 score for chosen threshold on </a:t>
            </a:r>
            <a:r>
              <a:rPr lang="en-US" sz="2400" b="1" dirty="0"/>
              <a:t>exhaustive dataset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D940A-0297-7717-4E28-6EE03B24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24364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26A37-C72A-63F8-A589-7D597A632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EFEA-2516-F75F-43D8-AE40072DF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52ABF-0779-DCEA-DDAA-B3B17DE21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>
            <a:noAutofit/>
          </a:bodyPr>
          <a:lstStyle/>
          <a:p>
            <a:pPr lvl="1"/>
            <a:r>
              <a:rPr lang="en-US" sz="2400" dirty="0"/>
              <a:t>Procedure is applied to multiple models with different fine-tune configurations (fine-tune on </a:t>
            </a:r>
            <a:r>
              <a:rPr lang="en-US" sz="2400" b="1" dirty="0" err="1"/>
              <a:t>Anditi</a:t>
            </a:r>
            <a:r>
              <a:rPr lang="en-US" sz="2400" b="1" dirty="0"/>
              <a:t> dataset </a:t>
            </a:r>
            <a:r>
              <a:rPr lang="en-US" sz="2400" dirty="0"/>
              <a:t>with non-schools sampled from </a:t>
            </a:r>
            <a:r>
              <a:rPr lang="en-US" sz="2400" b="1" dirty="0"/>
              <a:t>OSM Vietnam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Different number of </a:t>
            </a:r>
            <a:r>
              <a:rPr lang="en-US" sz="2400" b="1" dirty="0"/>
              <a:t>fine-tune epochs</a:t>
            </a:r>
            <a:r>
              <a:rPr lang="en-US" sz="2400" dirty="0"/>
              <a:t>:</a:t>
            </a:r>
          </a:p>
          <a:p>
            <a:pPr lvl="2"/>
            <a:r>
              <a:rPr lang="en-US" sz="2400" dirty="0"/>
              <a:t>1 epoch</a:t>
            </a:r>
          </a:p>
          <a:p>
            <a:pPr lvl="2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Dynamic Gaussian </a:t>
            </a:r>
            <a:r>
              <a:rPr lang="en-US" sz="2400" dirty="0"/>
              <a:t>non-school sampling with different school : non-school sampling ratios:</a:t>
            </a:r>
          </a:p>
          <a:p>
            <a:pPr lvl="2"/>
            <a:r>
              <a:rPr lang="en-US" sz="2400" dirty="0"/>
              <a:t>1:1</a:t>
            </a:r>
          </a:p>
          <a:p>
            <a:pPr lvl="2"/>
            <a:r>
              <a:rPr lang="en-US" sz="2400" dirty="0"/>
              <a:t>1:10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890E-8433-CECB-B45D-4EA4F324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72995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D435-E7EF-A074-1792-F7E620060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5F402-0E7C-F258-F854-4891C701F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validation, results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7B9C44-E66C-25B2-06F1-00CF4969C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13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A471C1-E740-0DBB-1099-4BD83D1F7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804292"/>
              </p:ext>
            </p:extLst>
          </p:nvPr>
        </p:nvGraphicFramePr>
        <p:xfrm>
          <a:off x="1060632" y="1737360"/>
          <a:ext cx="10070736" cy="4573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456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16981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Recall</a:t>
                      </a:r>
                    </a:p>
                    <a:p>
                      <a:pPr algn="ctr"/>
                      <a:r>
                        <a:rPr lang="en-US" sz="2400" dirty="0"/>
                        <a:t>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61.85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97.27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45.34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4.04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63.70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84.55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51.10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8.35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70.90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 96.36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56.08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69.14</a:t>
                      </a:r>
                      <a:endParaRPr lang="hr-HR" sz="2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76.36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63.16</a:t>
                      </a:r>
                      <a:endParaRPr lang="hr-HR" sz="2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353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1ACAC-F473-CD8E-CBFF-2E85F02EF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individuals&#10;&#10;Description automatically generated with medium confidence">
            <a:extLst>
              <a:ext uri="{FF2B5EF4-FFF2-40B4-BE49-F238E27FC236}">
                <a16:creationId xmlns:a16="http://schemas.microsoft.com/office/drawing/2014/main" id="{B7A53295-789B-14CB-66F6-D3316D28B3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961" y="1854543"/>
            <a:ext cx="5984077" cy="44880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E20E62-9E3A-EC4E-CF8F-71E3C9CBB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325793" cy="1450757"/>
          </a:xfrm>
        </p:spPr>
        <p:txBody>
          <a:bodyPr/>
          <a:lstStyle/>
          <a:p>
            <a:r>
              <a:rPr lang="en-US" dirty="0"/>
              <a:t>Threshold validation, 1:1 ratio, 1 epoch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1E0BD-E8A2-80B9-D323-56B8CC903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27898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1FFC6-64BB-C03A-47C4-410C039A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35A31-AB74-11C2-4FBF-95DD1D6C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311938" cy="1450757"/>
          </a:xfrm>
        </p:spPr>
        <p:txBody>
          <a:bodyPr/>
          <a:lstStyle/>
          <a:p>
            <a:r>
              <a:rPr lang="en-US" dirty="0"/>
              <a:t>Conclusion &amp; 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2F95-71D6-AC0A-0129-5A4A866DF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F1 score for fine-tuned model (1:1 ratio, 1 epoch):</a:t>
            </a:r>
          </a:p>
          <a:p>
            <a:pPr lvl="2"/>
            <a:r>
              <a:rPr lang="en-US" sz="2400" dirty="0"/>
              <a:t>Train: 92.55%</a:t>
            </a:r>
          </a:p>
          <a:p>
            <a:pPr lvl="2"/>
            <a:r>
              <a:rPr lang="en-US" sz="2400" b="1" dirty="0"/>
              <a:t>Exhaustive: </a:t>
            </a:r>
            <a:r>
              <a:rPr lang="hr-HR" sz="2400" b="1" dirty="0"/>
              <a:t>70.90</a:t>
            </a:r>
            <a:r>
              <a:rPr lang="en-US" sz="2400" b="1" dirty="0"/>
              <a:t>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Fine-tuning for 20 epochs may overfit the nation-wide model to </a:t>
            </a:r>
            <a:r>
              <a:rPr lang="en-US" sz="2400" dirty="0" err="1"/>
              <a:t>Anditi</a:t>
            </a:r>
            <a:r>
              <a:rPr lang="en-US" sz="2400" dirty="0"/>
              <a:t>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Explore and test options for reducing overfitting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E2B-E69E-1EFF-CBEA-EB86933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0906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485</TotalTime>
  <Words>506</Words>
  <Application>Microsoft Office PowerPoint</Application>
  <PresentationFormat>Widescreen</PresentationFormat>
  <Paragraphs>144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Calibri</vt:lpstr>
      <vt:lpstr>Calibri Light</vt:lpstr>
      <vt:lpstr>Retrospect</vt:lpstr>
      <vt:lpstr>School mapping in ESRI imagery</vt:lpstr>
      <vt:lpstr>Recap from last meeting</vt:lpstr>
      <vt:lpstr>Model fine-tuning</vt:lpstr>
      <vt:lpstr>Dense inference</vt:lpstr>
      <vt:lpstr>Dense inference results (after NMS)</vt:lpstr>
      <vt:lpstr>Problems</vt:lpstr>
      <vt:lpstr>New contributions</vt:lpstr>
      <vt:lpstr>New validation datasets</vt:lpstr>
      <vt:lpstr>Exhaustive (narrow) dataset</vt:lpstr>
      <vt:lpstr>Wide dataset</vt:lpstr>
      <vt:lpstr>Threshold validation</vt:lpstr>
      <vt:lpstr>Threshold validation</vt:lpstr>
      <vt:lpstr>Threshold validation, results</vt:lpstr>
      <vt:lpstr>Threshold validation, 1:1 ratio, 1 epoch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31</cp:revision>
  <dcterms:created xsi:type="dcterms:W3CDTF">2024-10-22T16:37:25Z</dcterms:created>
  <dcterms:modified xsi:type="dcterms:W3CDTF">2025-01-16T11:36:11Z</dcterms:modified>
</cp:coreProperties>
</file>