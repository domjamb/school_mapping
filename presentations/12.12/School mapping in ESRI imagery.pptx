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1"/>
  </p:notesMasterIdLst>
  <p:sldIdLst>
    <p:sldId id="256" r:id="rId2"/>
    <p:sldId id="258" r:id="rId3"/>
    <p:sldId id="288" r:id="rId4"/>
    <p:sldId id="289" r:id="rId5"/>
    <p:sldId id="296" r:id="rId6"/>
    <p:sldId id="297" r:id="rId7"/>
    <p:sldId id="298" r:id="rId8"/>
    <p:sldId id="300" r:id="rId9"/>
    <p:sldId id="299" r:id="rId10"/>
    <p:sldId id="301" r:id="rId11"/>
    <p:sldId id="302" r:id="rId12"/>
    <p:sldId id="303" r:id="rId13"/>
    <p:sldId id="305" r:id="rId14"/>
    <p:sldId id="304" r:id="rId15"/>
    <p:sldId id="306" r:id="rId16"/>
    <p:sldId id="309" r:id="rId17"/>
    <p:sldId id="308" r:id="rId18"/>
    <p:sldId id="307" r:id="rId19"/>
    <p:sldId id="31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01"/>
    <a:srgbClr val="FFE601"/>
    <a:srgbClr val="F5EF00"/>
    <a:srgbClr val="FF0000"/>
    <a:srgbClr val="0F00FC"/>
    <a:srgbClr val="00FF06"/>
    <a:srgbClr val="0047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B7F9E-A1C3-49A9-9E10-41E48F42B6EF}" type="datetimeFigureOut">
              <a:rPr lang="hr-HR" smtClean="0"/>
              <a:t>11.12.2024.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AADC4-D7B5-450A-9EF8-CC02CD33819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6581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32798-267A-4A65-B728-860D168520E9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93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952B-35CB-45F4-B445-93E96AE6AA9A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54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6C6A-72C5-452A-B645-74DCDF4F800D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655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06E91-FFF8-4AB3-8240-55376CB7D14E}" type="datetime1">
              <a:rPr lang="hr-HR" smtClean="0"/>
              <a:t>11.12.2024.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812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B5B90-9CB0-4409-89A2-DA39566333B9}" type="datetime1">
              <a:rPr lang="hr-HR" smtClean="0"/>
              <a:t>11.12.2024.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437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0C004-70F7-4C97-9947-702C175B2047}" type="datetime1">
              <a:rPr lang="hr-HR" smtClean="0"/>
              <a:t>11.12.2024.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81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47105-24BD-4206-BE09-6051D8DF5A30}" type="datetime1">
              <a:rPr lang="hr-HR" smtClean="0"/>
              <a:t>11.12.2024.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911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EA9D767-858F-4EC9-ADD3-529928E56913}" type="datetime1">
              <a:rPr lang="hr-HR" smtClean="0"/>
              <a:t>11.12.2024.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72200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151D8-37D8-4141-AE5C-976E3A606B5B}" type="datetime1">
              <a:rPr lang="hr-HR" smtClean="0"/>
              <a:t>11.12.2024.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0347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7ED3-79A9-4245-8F0F-F984ABC9CDC0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79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31ACD-5387-45BD-B548-1DCDFB961638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178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0FF488-27A0-4035-9B9A-B8D9554714E0}" type="datetime1">
              <a:rPr lang="hr-HR" smtClean="0"/>
              <a:t>11.12.2024.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34875C-B374-4DCB-B0EF-B862E54336C8}" type="slidenum">
              <a:rPr lang="hr-HR" smtClean="0"/>
              <a:t>‹#›</a:t>
            </a:fld>
            <a:endParaRPr lang="hr-H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0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FF00-34E4-F05B-4CF2-0A8B5E00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School mapping in ESRI imagery</a:t>
            </a:r>
            <a:endParaRPr lang="hr-HR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3255326-AF42-6735-8CB8-9009BE9D7A18}"/>
              </a:ext>
            </a:extLst>
          </p:cNvPr>
          <p:cNvSpPr txBox="1">
            <a:spLocks/>
          </p:cNvSpPr>
          <p:nvPr/>
        </p:nvSpPr>
        <p:spPr>
          <a:xfrm>
            <a:off x="1097280" y="4325112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Andrija </a:t>
            </a:r>
            <a:r>
              <a:rPr lang="en-US" sz="2800" dirty="0" err="1"/>
              <a:t>Gorup</a:t>
            </a:r>
            <a:r>
              <a:rPr lang="en-US" sz="2800" dirty="0"/>
              <a:t>, Dominik </a:t>
            </a:r>
            <a:r>
              <a:rPr lang="en-US" sz="2800" dirty="0" err="1"/>
              <a:t>Jambrovi</a:t>
            </a:r>
            <a:r>
              <a:rPr lang="hr-HR" sz="2800" dirty="0"/>
              <a:t>ć, Marin Kačan, Siniša Šegvić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0AEFF77-6818-7F14-D523-83B7CA729C24}"/>
              </a:ext>
            </a:extLst>
          </p:cNvPr>
          <p:cNvSpPr txBox="1">
            <a:spLocks/>
          </p:cNvSpPr>
          <p:nvPr/>
        </p:nvSpPr>
        <p:spPr>
          <a:xfrm>
            <a:off x="1097280" y="5340096"/>
            <a:ext cx="10058400" cy="758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hr-HR" sz="2400" dirty="0"/>
              <a:t>December 12th, 2024</a:t>
            </a:r>
          </a:p>
        </p:txBody>
      </p:sp>
    </p:spTree>
    <p:extLst>
      <p:ext uri="{BB962C8B-B14F-4D97-AF65-F5344CB8AC3E}">
        <p14:creationId xmlns:p14="http://schemas.microsoft.com/office/powerpoint/2010/main" val="101124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A271-1EFB-E664-0007-BB69468B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from last meeting</a:t>
            </a:r>
            <a:endParaRPr lang="hr-HR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39E99-CCEB-B045-9B67-6CBBE019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64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DFD56-F4F5-55B5-4927-36B17B73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method choice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85BB0-9BA5-002D-3145-B91657B7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Inverse or Gaussian sampling</a:t>
            </a:r>
          </a:p>
          <a:p>
            <a:pPr lvl="1"/>
            <a:r>
              <a:rPr lang="en-US" sz="2400" dirty="0"/>
              <a:t>Static or dynamic sampling</a:t>
            </a:r>
          </a:p>
          <a:p>
            <a:pPr lvl="1"/>
            <a:r>
              <a:rPr lang="en-US" sz="2400" dirty="0"/>
              <a:t>Dynamic or OHEM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We’ve seen that static Gaussian sampling and dynamic Gaussian sampling yield the best results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Our choice: </a:t>
            </a:r>
            <a:r>
              <a:rPr lang="en-US" sz="2400" b="1" dirty="0"/>
              <a:t>static Gaussian sampling</a:t>
            </a:r>
            <a:endParaRPr lang="hr-HR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7AC0D-7FA9-9DB8-136A-E0A18153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81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C31-0137-5E1D-920F-FC471D05F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epochs validation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23FC7-0845-DAD7-473C-2E99694F3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Increased number of epochs (20 vs 13)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Measure </a:t>
            </a:r>
            <a:r>
              <a:rPr lang="en-US" sz="2400" b="1" dirty="0"/>
              <a:t>F1-score </a:t>
            </a:r>
            <a:r>
              <a:rPr lang="en-US" sz="2400" dirty="0"/>
              <a:t>over epochs on both train and validation set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Cho</a:t>
            </a:r>
            <a:r>
              <a:rPr lang="hr-HR" sz="2400" dirty="0"/>
              <a:t>sen </a:t>
            </a:r>
            <a:r>
              <a:rPr lang="en-US" sz="2400" dirty="0"/>
              <a:t>number of epochs for fine-tuning</a:t>
            </a:r>
            <a:r>
              <a:rPr lang="hr-HR" sz="2400" dirty="0"/>
              <a:t>: </a:t>
            </a:r>
            <a:r>
              <a:rPr lang="hr-HR" sz="2400" b="1" dirty="0"/>
              <a:t>20 epochs</a:t>
            </a:r>
            <a:endParaRPr lang="en-US" sz="2400" b="1" dirty="0"/>
          </a:p>
          <a:p>
            <a:pPr marL="201168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CE338-17D5-2883-F448-80222F72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696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66EC-01A9-BDE2-399E-7607ACF5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fine-tuning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AAC3-DAEA-3722-1302-5B30AB88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All </a:t>
            </a:r>
            <a:r>
              <a:rPr lang="en-US" sz="2400" dirty="0" err="1"/>
              <a:t>Anditi</a:t>
            </a:r>
            <a:r>
              <a:rPr lang="en-US" sz="2400" dirty="0"/>
              <a:t> schools + equal number of OSM Vietnam non-schools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Static Gaussian non-school sampling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20 epochs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Train results</a:t>
            </a:r>
          </a:p>
          <a:p>
            <a:pPr lvl="2"/>
            <a:r>
              <a:rPr lang="en-US" sz="2000" b="1" dirty="0"/>
              <a:t>F1: 99.55%</a:t>
            </a:r>
          </a:p>
          <a:p>
            <a:pPr lvl="2"/>
            <a:r>
              <a:rPr lang="en-US" sz="2000" dirty="0"/>
              <a:t>P: 99.80%</a:t>
            </a:r>
          </a:p>
          <a:p>
            <a:pPr lvl="2"/>
            <a:r>
              <a:rPr lang="en-US" sz="2000" dirty="0"/>
              <a:t>R: 99.30%</a:t>
            </a:r>
          </a:p>
          <a:p>
            <a:pPr marL="201168" lvl="1" indent="0">
              <a:buNone/>
            </a:pPr>
            <a:endParaRPr lang="en-US" sz="2400" dirty="0"/>
          </a:p>
          <a:p>
            <a:pPr lvl="1"/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943B9-A61A-0C75-B492-836BB3B9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1447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8C4C-ADFA-E377-A608-96ED92F2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New contributions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2EDB9-7240-C743-A2C6-0614DD31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63264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4D12-15AF-C83D-53E5-764C158E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9DA01-6CB6-94B5-8278-256D8420C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Use</a:t>
            </a:r>
            <a:r>
              <a:rPr lang="hr-HR" sz="2400" dirty="0"/>
              <a:t> </a:t>
            </a:r>
            <a:r>
              <a:rPr lang="en-US" sz="2400" dirty="0"/>
              <a:t>fine-tuned model on </a:t>
            </a:r>
            <a:r>
              <a:rPr lang="en-US" sz="2400" b="1" dirty="0"/>
              <a:t>overlapping satellite images</a:t>
            </a:r>
            <a:r>
              <a:rPr lang="en-US" sz="2400" dirty="0"/>
              <a:t> (tiles) from chosen districts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Perform non-maximum suppression (</a:t>
            </a:r>
            <a:r>
              <a:rPr lang="en-US" sz="2400" b="1" dirty="0"/>
              <a:t>NMS</a:t>
            </a:r>
            <a:r>
              <a:rPr lang="en-US" sz="2400" dirty="0"/>
              <a:t>) to reduce the number of duplicate detections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B7E46-84AA-C294-3543-BD508C49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0128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344A-23DA-4564-EF26-E32D4538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F4FC-CF4B-C2FB-7808-C1749F1DC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DECE6-A34F-383B-14A7-935CB9FA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Measure number of detected </a:t>
            </a:r>
            <a:r>
              <a:rPr lang="en-US" sz="2400" dirty="0" err="1"/>
              <a:t>Anditi</a:t>
            </a:r>
            <a:r>
              <a:rPr lang="en-US" sz="2400" dirty="0"/>
              <a:t> schools:</a:t>
            </a:r>
          </a:p>
          <a:p>
            <a:pPr lvl="2"/>
            <a:r>
              <a:rPr lang="en-US" sz="2000" dirty="0"/>
              <a:t>For each </a:t>
            </a:r>
            <a:r>
              <a:rPr lang="en-US" sz="2000" dirty="0" err="1"/>
              <a:t>Anditi</a:t>
            </a:r>
            <a:r>
              <a:rPr lang="en-US" sz="2000" dirty="0"/>
              <a:t> school, do the following:</a:t>
            </a:r>
          </a:p>
          <a:p>
            <a:pPr lvl="3"/>
            <a:r>
              <a:rPr lang="en-US" sz="2000" dirty="0"/>
              <a:t>1. find satellite images which contain the school</a:t>
            </a:r>
          </a:p>
          <a:p>
            <a:pPr lvl="3"/>
            <a:r>
              <a:rPr lang="en-US" sz="2000" dirty="0"/>
              <a:t>2. check if the model’s prediction for at least one of the neighboring satellite images is above 0.5</a:t>
            </a:r>
          </a:p>
          <a:p>
            <a:pPr lvl="3"/>
            <a:r>
              <a:rPr lang="en-US" sz="2000" dirty="0"/>
              <a:t>3. if not, memorize the nearest satellite image, as well as the distance and probability</a:t>
            </a:r>
          </a:p>
          <a:p>
            <a:pPr lvl="2"/>
            <a:r>
              <a:rPr lang="en-US" sz="2000" dirty="0"/>
              <a:t>Finally, calculate recall, as well as the total number of detected </a:t>
            </a:r>
            <a:r>
              <a:rPr lang="en-US" sz="2000" dirty="0" err="1"/>
              <a:t>Anditi</a:t>
            </a:r>
            <a:r>
              <a:rPr lang="en-US" sz="2000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Deliver list of potential schools sorted by prediction confidence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F7E77-7D6D-E400-92AD-64148C46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6155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107E-8EF7-846B-8BBA-13B1D6B2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A93D-7B55-8886-9B86-7A13FA83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(before NMS)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CF16C-FB00-69E5-CA20-289609254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Found 920 / 946 (</a:t>
            </a:r>
            <a:r>
              <a:rPr lang="en-US" sz="2400" b="1" dirty="0"/>
              <a:t>97.25%</a:t>
            </a:r>
            <a:r>
              <a:rPr lang="en-US" sz="2400" dirty="0"/>
              <a:t>)</a:t>
            </a:r>
            <a:r>
              <a:rPr lang="en-US" sz="2400" b="1" dirty="0"/>
              <a:t> </a:t>
            </a:r>
            <a:r>
              <a:rPr lang="en-US" sz="2400" dirty="0" err="1"/>
              <a:t>Anditi</a:t>
            </a:r>
            <a:r>
              <a:rPr lang="en-US" sz="2400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Recall (minimum probability): 1.80%</a:t>
            </a:r>
          </a:p>
          <a:p>
            <a:pPr lvl="1"/>
            <a:r>
              <a:rPr lang="en-US" sz="2400" dirty="0"/>
              <a:t>Recall (mean probability): 47.25%</a:t>
            </a:r>
          </a:p>
          <a:p>
            <a:pPr lvl="1"/>
            <a:r>
              <a:rPr lang="en-US" sz="2400" dirty="0"/>
              <a:t>Recall (maximum probability): 97.25%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26 not detected schools (</a:t>
            </a:r>
            <a:r>
              <a:rPr lang="en-US" sz="2400" b="1" dirty="0"/>
              <a:t>2.75%</a:t>
            </a:r>
            <a:r>
              <a:rPr lang="en-US" sz="2400" dirty="0"/>
              <a:t>)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B443C-6F70-B33C-3463-7976B9CE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19118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2A46-BA89-0A33-E7BF-54C27464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4958-6F4C-49F0-3A71-C2C2EAFF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(before NMS)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0B520-4A78-E595-A1EB-60345B298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10</a:t>
            </a:fld>
            <a:endParaRPr lang="hr-HR"/>
          </a:p>
        </p:txBody>
      </p:sp>
      <p:pic>
        <p:nvPicPr>
          <p:cNvPr id="8" name="Picture 7" descr="A graph with blue squares&#10;&#10;Description automatically generated">
            <a:extLst>
              <a:ext uri="{FF2B5EF4-FFF2-40B4-BE49-F238E27FC236}">
                <a16:creationId xmlns:a16="http://schemas.microsoft.com/office/drawing/2014/main" id="{4DF5D0B0-2C60-1203-44E8-9CCADA583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353" y="1787236"/>
            <a:ext cx="5935294" cy="44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74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5115-DDD2-59BA-D33F-73DBC17A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08D2-A053-BA4C-122A-0FAC6FFC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(after NMS)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E2799-A9B7-C71D-C7A2-FA6AEE1D2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Found 900/946 (</a:t>
            </a:r>
            <a:r>
              <a:rPr lang="en-US" sz="2400" b="1" dirty="0"/>
              <a:t>95.14%</a:t>
            </a:r>
            <a:r>
              <a:rPr lang="en-US" sz="2400" dirty="0"/>
              <a:t>)</a:t>
            </a:r>
            <a:r>
              <a:rPr lang="en-US" sz="2400" b="1" dirty="0"/>
              <a:t> </a:t>
            </a:r>
            <a:r>
              <a:rPr lang="en-US" sz="2400" dirty="0" err="1"/>
              <a:t>Anditi</a:t>
            </a:r>
            <a:r>
              <a:rPr lang="en-US" sz="2400" dirty="0"/>
              <a:t> schools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Recall (min probs): 95.14%</a:t>
            </a:r>
          </a:p>
          <a:p>
            <a:pPr lvl="1"/>
            <a:r>
              <a:rPr lang="en-US" sz="2400" dirty="0"/>
              <a:t>Recall (mean probs): 95.14%</a:t>
            </a:r>
          </a:p>
          <a:p>
            <a:pPr lvl="1"/>
            <a:r>
              <a:rPr lang="en-US" sz="2400" dirty="0"/>
              <a:t>Recall (max probs): 95.14%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46 not detected schools (</a:t>
            </a:r>
            <a:r>
              <a:rPr lang="en-US" sz="2400" b="1" dirty="0"/>
              <a:t>4.86%</a:t>
            </a:r>
            <a:r>
              <a:rPr lang="en-US" sz="2400" dirty="0"/>
              <a:t>)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47BBB-1A02-75C1-AC3F-7D66D9FB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3098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7A64-3DEC-1465-B36E-B3D97A9C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squares&#10;&#10;Description automatically generated">
            <a:extLst>
              <a:ext uri="{FF2B5EF4-FFF2-40B4-BE49-F238E27FC236}">
                <a16:creationId xmlns:a16="http://schemas.microsoft.com/office/drawing/2014/main" id="{8E3B0C46-CABC-07DC-BDC5-6C6BDD37F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352" y="1787236"/>
            <a:ext cx="5935293" cy="4451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1E1FCF-EC9A-A7B6-37FA-13FC6D7E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Dense inference</a:t>
            </a:r>
            <a:r>
              <a:rPr lang="en-US" dirty="0"/>
              <a:t> results (before NMS)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1D9FB-C386-4FCB-4887-9D00FA1E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0839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2763-99BB-533B-7C19-3C1281DE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93C0-B316-A8E4-7A7F-B0B82699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9FFC-DF9C-72EC-BAF9-787E637D5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Satellite images classified as schools by the fine-tuned model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Images are sorted by prediction confidence – images with the highest confidence come first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Non-maximum suppression was applied to the list to avoid overlapping detections </a:t>
            </a:r>
            <a:endParaRPr lang="hr-HR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77A58-639D-4903-82BF-97F2E602B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3363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236F-996B-8783-3782-ECCE79D7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</a:t>
            </a:r>
            <a:endParaRPr lang="hr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FA56-BA83-1B7A-B975-A3D0B40D4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9573 images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Top 15 images:</a:t>
            </a:r>
          </a:p>
          <a:p>
            <a:pPr lvl="2"/>
            <a:r>
              <a:rPr lang="en-US" sz="2000" dirty="0"/>
              <a:t>4 are marked on Google Maps (manual check)</a:t>
            </a:r>
          </a:p>
          <a:p>
            <a:pPr lvl="2"/>
            <a:r>
              <a:rPr lang="en-US" sz="2000" dirty="0"/>
              <a:t>3 of those 4 images are in the </a:t>
            </a:r>
            <a:r>
              <a:rPr lang="en-US" sz="2000" dirty="0" err="1"/>
              <a:t>Anditi</a:t>
            </a:r>
            <a:r>
              <a:rPr lang="en-US" sz="2000" dirty="0"/>
              <a:t> dataset</a:t>
            </a:r>
          </a:p>
          <a:p>
            <a:pPr lvl="2"/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38382-B2BE-0D2A-A548-6F0ED7B7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5382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3D08-E7CF-527A-EA32-C6C600DA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69CE-96DA-5189-20E3-4DB2482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 - examples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8788F-06F4-76AB-149B-56776BC8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15</a:t>
            </a:fld>
            <a:endParaRPr lang="hr-H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8583E-C7A3-1723-214A-7BBD3EFDD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848" y="1885365"/>
            <a:ext cx="6932303" cy="442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92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2181-1578-111A-7570-62C8A941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AB03A-DA35-27B3-CCE9-F8F900C4E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848" y="1885421"/>
            <a:ext cx="6932303" cy="4426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4DFE6E-E850-DDBA-AB3E-4283304B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 - examples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1CDB5-8A05-1EC8-2F5F-E122C438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41401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6AA8-D0EA-8919-75B9-6D36CEC11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11D171-6606-FE64-3D68-88DD40D0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983" y="1885365"/>
            <a:ext cx="6935168" cy="44264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955B44-C830-B2ED-F2E8-00A80F22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 - examples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6E541-D7FF-32AD-E875-6C65FCDF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8883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65C5B-D490-52E3-70A4-1D4E3320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5C34BB-6BA1-0159-83CA-F2255051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848" y="1885365"/>
            <a:ext cx="6929010" cy="44264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1EC1D9-EE81-2600-FC7E-08F5854B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 - examples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BB76-08FA-8C04-55B7-4230B780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83949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4C6E-C75A-1603-BB51-7009EB29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10564C-8C1A-35FA-BBAA-4BFBA8AA2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848" y="1885365"/>
            <a:ext cx="6929009" cy="44264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C5BA28-3976-9AD9-791F-14DC82A53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potential schools - examples</a:t>
            </a: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A5BD9-0677-7768-AD86-D8525678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4875C-B374-4DCB-B0EF-B862E54336C8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838292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374</TotalTime>
  <Words>459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Calibri</vt:lpstr>
      <vt:lpstr>Calibri Light</vt:lpstr>
      <vt:lpstr>Retrospect</vt:lpstr>
      <vt:lpstr>School mapping in ESRI imagery</vt:lpstr>
      <vt:lpstr>Recap from last meeting</vt:lpstr>
      <vt:lpstr>Sampling method choice</vt:lpstr>
      <vt:lpstr>Number of epochs validation</vt:lpstr>
      <vt:lpstr>Model fine-tuning</vt:lpstr>
      <vt:lpstr>New contributions</vt:lpstr>
      <vt:lpstr>Dense inference</vt:lpstr>
      <vt:lpstr>Dense inference</vt:lpstr>
      <vt:lpstr>Dense inference results (before NMS)</vt:lpstr>
      <vt:lpstr>Dense inference results (before NMS)</vt:lpstr>
      <vt:lpstr>Dense inference results (after NMS)</vt:lpstr>
      <vt:lpstr>Dense inference results (before NMS)</vt:lpstr>
      <vt:lpstr>List of potential schools</vt:lpstr>
      <vt:lpstr>List of potential schools</vt:lpstr>
      <vt:lpstr>List of potential schools - examples</vt:lpstr>
      <vt:lpstr>List of potential schools - examples</vt:lpstr>
      <vt:lpstr>List of potential schools - examples</vt:lpstr>
      <vt:lpstr>List of potential schools - examples</vt:lpstr>
      <vt:lpstr>List of potential schools -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Jambrovic</dc:creator>
  <cp:lastModifiedBy>Dominik Jambrovic</cp:lastModifiedBy>
  <cp:revision>16</cp:revision>
  <dcterms:created xsi:type="dcterms:W3CDTF">2024-10-22T16:37:25Z</dcterms:created>
  <dcterms:modified xsi:type="dcterms:W3CDTF">2024-12-11T22:23:46Z</dcterms:modified>
</cp:coreProperties>
</file>