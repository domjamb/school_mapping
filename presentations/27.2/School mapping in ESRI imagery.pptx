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4" r:id="rId1"/>
  </p:sldMasterIdLst>
  <p:notesMasterIdLst>
    <p:notesMasterId r:id="rId20"/>
  </p:notesMasterIdLst>
  <p:sldIdLst>
    <p:sldId id="256" r:id="rId2"/>
    <p:sldId id="258" r:id="rId3"/>
    <p:sldId id="304" r:id="rId4"/>
    <p:sldId id="305" r:id="rId5"/>
    <p:sldId id="306" r:id="rId6"/>
    <p:sldId id="307" r:id="rId7"/>
    <p:sldId id="316" r:id="rId8"/>
    <p:sldId id="317" r:id="rId9"/>
    <p:sldId id="318" r:id="rId10"/>
    <p:sldId id="297" r:id="rId11"/>
    <p:sldId id="319" r:id="rId12"/>
    <p:sldId id="320" r:id="rId13"/>
    <p:sldId id="321" r:id="rId14"/>
    <p:sldId id="298" r:id="rId15"/>
    <p:sldId id="302" r:id="rId16"/>
    <p:sldId id="323" r:id="rId17"/>
    <p:sldId id="322" r:id="rId18"/>
    <p:sldId id="315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401"/>
    <a:srgbClr val="FFE601"/>
    <a:srgbClr val="F5EF00"/>
    <a:srgbClr val="FF0000"/>
    <a:srgbClr val="0F00FC"/>
    <a:srgbClr val="00FF06"/>
    <a:srgbClr val="0047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92" d="100"/>
          <a:sy n="92" d="100"/>
        </p:scale>
        <p:origin x="2268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0B7F9E-A1C3-49A9-9E10-41E48F42B6EF}" type="datetimeFigureOut">
              <a:rPr lang="hr-HR" smtClean="0"/>
              <a:t>26.2.2025.</a:t>
            </a:fld>
            <a:endParaRPr lang="hr-H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r-H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3AADC4-D7B5-450A-9EF8-CC02CD338196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086581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32798-267A-4A65-B728-860D168520E9}" type="datetime1">
              <a:rPr lang="hr-HR" smtClean="0"/>
              <a:t>26.2.2025.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3935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9952B-35CB-45F4-B445-93E96AE6AA9A}" type="datetime1">
              <a:rPr lang="hr-HR" smtClean="0"/>
              <a:t>26.2.2025.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605448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196C6A-72C5-452A-B645-74DCDF4F800D}" type="datetime1">
              <a:rPr lang="hr-HR" smtClean="0"/>
              <a:t>26.2.2025.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65543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1845734"/>
            <a:ext cx="493776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206E91-FFF8-4AB3-8240-55376CB7D14E}" type="datetime1">
              <a:rPr lang="hr-HR" smtClean="0"/>
              <a:t>26.2.2025.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0881299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5"/>
            <a:ext cx="493776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B5B90-9CB0-4409-89A2-DA39566333B9}" type="datetime1">
              <a:rPr lang="hr-HR" smtClean="0"/>
              <a:t>26.2.2025.</a:t>
            </a:fld>
            <a:endParaRPr lang="hr-H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2743794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00C004-70F7-4C97-9947-702C175B2047}" type="datetime1">
              <a:rPr lang="hr-HR" smtClean="0"/>
              <a:t>26.2.2025.</a:t>
            </a:fld>
            <a:endParaRPr lang="hr-H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078150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847105-24BD-4206-BE09-6051D8DF5A30}" type="datetime1">
              <a:rPr lang="hr-HR" smtClean="0"/>
              <a:t>26.2.2025.</a:t>
            </a:fld>
            <a:endParaRPr lang="hr-H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hr-H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8191159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6EA9D767-858F-4EC9-ADD3-529928E56913}" type="datetime1">
              <a:rPr lang="hr-HR" smtClean="0"/>
              <a:t>26.2.2025.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1722008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7151D8-37D8-4141-AE5C-976E3A606B5B}" type="datetime1">
              <a:rPr lang="hr-HR" smtClean="0"/>
              <a:t>26.2.2025.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003475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57ED3-79A9-4245-8F0F-F984ABC9CDC0}" type="datetime1">
              <a:rPr lang="hr-HR" smtClean="0"/>
              <a:t>26.2.2025.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5179417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531ACD-5387-45BD-B548-1DCDFB961638}" type="datetime1">
              <a:rPr lang="hr-HR" smtClean="0"/>
              <a:t>26.2.2025.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0817847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870FF488-27A0-4035-9B9A-B8D9554714E0}" type="datetime1">
              <a:rPr lang="hr-HR" smtClean="0"/>
              <a:t>26.2.2025.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29012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FFF00-34E4-F05B-4CF2-0A8B5E0036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School mapping in ESRI imagery</a:t>
            </a:r>
            <a:endParaRPr lang="hr-HR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3255326-AF42-6735-8CB8-9009BE9D7A18}"/>
              </a:ext>
            </a:extLst>
          </p:cNvPr>
          <p:cNvSpPr txBox="1">
            <a:spLocks/>
          </p:cNvSpPr>
          <p:nvPr/>
        </p:nvSpPr>
        <p:spPr>
          <a:xfrm>
            <a:off x="1097280" y="4325112"/>
            <a:ext cx="10058400" cy="75895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8000" kern="1200" spc="-5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/>
              <a:t>Andrija </a:t>
            </a:r>
            <a:r>
              <a:rPr lang="en-US" sz="2800" dirty="0" err="1"/>
              <a:t>Gorup</a:t>
            </a:r>
            <a:r>
              <a:rPr lang="en-US" sz="2800" dirty="0"/>
              <a:t>, Dominik </a:t>
            </a:r>
            <a:r>
              <a:rPr lang="en-US" sz="2800" dirty="0" err="1"/>
              <a:t>Jambrovi</a:t>
            </a:r>
            <a:r>
              <a:rPr lang="hr-HR" sz="2800" dirty="0"/>
              <a:t>ć, Marin Kačan, Siniša Šegvić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0AEFF77-6818-7F14-D523-83B7CA729C24}"/>
              </a:ext>
            </a:extLst>
          </p:cNvPr>
          <p:cNvSpPr txBox="1">
            <a:spLocks/>
          </p:cNvSpPr>
          <p:nvPr/>
        </p:nvSpPr>
        <p:spPr>
          <a:xfrm>
            <a:off x="1097280" y="5340096"/>
            <a:ext cx="10058400" cy="75895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8000" kern="1200" spc="-5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400" dirty="0"/>
              <a:t>February</a:t>
            </a:r>
            <a:r>
              <a:rPr lang="hr-HR" sz="2400" dirty="0"/>
              <a:t> </a:t>
            </a:r>
            <a:r>
              <a:rPr lang="en-US" sz="2400" dirty="0"/>
              <a:t>27th</a:t>
            </a:r>
            <a:r>
              <a:rPr lang="hr-HR" sz="2400" dirty="0"/>
              <a:t>, 202</a:t>
            </a:r>
            <a:r>
              <a:rPr lang="en-US" sz="2400" dirty="0"/>
              <a:t>5</a:t>
            </a:r>
            <a:endParaRPr lang="hr-HR" sz="2400" dirty="0"/>
          </a:p>
        </p:txBody>
      </p:sp>
    </p:spTree>
    <p:extLst>
      <p:ext uri="{BB962C8B-B14F-4D97-AF65-F5344CB8AC3E}">
        <p14:creationId xmlns:p14="http://schemas.microsoft.com/office/powerpoint/2010/main" val="10112415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8A271-1EFB-E664-0007-BB69468BA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</a:t>
            </a:r>
            <a:endParaRPr lang="hr-HR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39E99-CCEB-B045-9B67-6CBBE0199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2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1649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2F5080-0FC4-286E-A439-F65A36274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0F9A6-810B-C651-B642-35FEC8CBD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validation datasets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183042-BB2B-ED39-A052-0660EFBB96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We have hand-collected two subsets of school locations:</a:t>
            </a:r>
          </a:p>
          <a:p>
            <a:pPr lvl="1"/>
            <a:endParaRPr lang="en-US" sz="2400" dirty="0"/>
          </a:p>
          <a:p>
            <a:pPr lvl="2"/>
            <a:r>
              <a:rPr lang="en-US" sz="2400" dirty="0"/>
              <a:t>Exhaustive dataset</a:t>
            </a:r>
          </a:p>
          <a:p>
            <a:pPr marL="384048" lvl="2" indent="0">
              <a:buNone/>
            </a:pPr>
            <a:endParaRPr lang="en-US" sz="2400" dirty="0"/>
          </a:p>
          <a:p>
            <a:pPr lvl="2"/>
            <a:r>
              <a:rPr lang="en-US" sz="2400" dirty="0"/>
              <a:t>Wide dataset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Can be used for evaluating the final fine-tuned model</a:t>
            </a:r>
            <a:endParaRPr lang="hr-HR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4B6143-CE7C-BB7B-CC45-7CE5FA063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3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0292994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C6BF8-2645-335B-179E-3A1A67F83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01A63-4CA0-F8D6-F3C1-1C5CFEEA4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Exhaustive (narrow) dataset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D06317-CCF1-8129-8E73-AE7C125BAF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lvl="1"/>
            <a:r>
              <a:rPr lang="en-US" sz="2400" dirty="0"/>
              <a:t>Locations from 4 </a:t>
            </a:r>
            <a:r>
              <a:rPr lang="hr-HR" sz="2400" dirty="0"/>
              <a:t>subdistricts (wards) from </a:t>
            </a:r>
            <a:r>
              <a:rPr lang="it-IT" sz="2400" b="1" dirty="0"/>
              <a:t>Thủ Đức</a:t>
            </a:r>
            <a:r>
              <a:rPr lang="hr-HR" sz="2400" b="1" dirty="0"/>
              <a:t> District</a:t>
            </a:r>
            <a:r>
              <a:rPr lang="hr-HR" sz="2400" dirty="0"/>
              <a:t>:  </a:t>
            </a:r>
          </a:p>
          <a:p>
            <a:pPr lvl="2"/>
            <a:r>
              <a:rPr lang="hr-HR" sz="2400" dirty="0"/>
              <a:t>Linh Xuan Ward</a:t>
            </a:r>
          </a:p>
          <a:p>
            <a:pPr lvl="2"/>
            <a:r>
              <a:rPr lang="hr-HR" sz="2400" dirty="0"/>
              <a:t>Binh Chieu Ward</a:t>
            </a:r>
          </a:p>
          <a:p>
            <a:pPr lvl="2"/>
            <a:r>
              <a:rPr lang="hr-HR" sz="2400" dirty="0"/>
              <a:t>Tam Binh Ward</a:t>
            </a:r>
          </a:p>
          <a:p>
            <a:pPr lvl="2"/>
            <a:r>
              <a:rPr lang="hr-HR" sz="2400" dirty="0"/>
              <a:t>Hiep Binh Phuoc Ward</a:t>
            </a:r>
            <a:endParaRPr lang="en-US" sz="2400" dirty="0"/>
          </a:p>
          <a:p>
            <a:pPr lvl="1"/>
            <a:endParaRPr lang="en-US" sz="2400" dirty="0"/>
          </a:p>
          <a:p>
            <a:pPr lvl="1"/>
            <a:r>
              <a:rPr lang="en-US" sz="2400" b="1" dirty="0"/>
              <a:t>110 schools </a:t>
            </a:r>
            <a:r>
              <a:rPr lang="en-US" sz="2400" dirty="0"/>
              <a:t>(exhaustive search)</a:t>
            </a:r>
            <a:r>
              <a:rPr lang="hr-HR" sz="2400" dirty="0"/>
              <a:t>, </a:t>
            </a:r>
            <a:r>
              <a:rPr lang="en-US" sz="2400" b="1" dirty="0"/>
              <a:t>1163 overlapping tiles total </a:t>
            </a:r>
            <a:r>
              <a:rPr lang="en-US" sz="2400" dirty="0"/>
              <a:t>(after filtering)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Can be used for calculating precision, recall and </a:t>
            </a:r>
            <a:r>
              <a:rPr lang="en-US" sz="2400" b="1" dirty="0"/>
              <a:t>F1 score</a:t>
            </a:r>
            <a:endParaRPr lang="hr-HR" sz="24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3923F7-199B-DB78-C203-AEE4CD83C4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4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8592140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2F93E-E544-2553-22F8-8CF824196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5275F1-9797-BDFA-2561-4EFFB925F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Wide dataset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7FD016-FD43-6767-A8A2-868E180F42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1"/>
            <a:r>
              <a:rPr lang="en-US" sz="2400" dirty="0"/>
              <a:t>Locations from 5 districts</a:t>
            </a:r>
            <a:r>
              <a:rPr lang="hr-HR" sz="2400" dirty="0"/>
              <a:t>:</a:t>
            </a:r>
          </a:p>
          <a:p>
            <a:pPr lvl="2"/>
            <a:r>
              <a:rPr lang="en-US" sz="2400" dirty="0"/>
              <a:t>Lê </a:t>
            </a:r>
            <a:r>
              <a:rPr lang="en-US" sz="2400" dirty="0" err="1"/>
              <a:t>Chân</a:t>
            </a:r>
            <a:r>
              <a:rPr lang="en-US" sz="2400" dirty="0"/>
              <a:t> District</a:t>
            </a:r>
          </a:p>
          <a:p>
            <a:pPr lvl="2"/>
            <a:r>
              <a:rPr lang="en-US" sz="2400" dirty="0"/>
              <a:t>Hoài </a:t>
            </a:r>
            <a:r>
              <a:rPr lang="en-US" sz="2400" dirty="0" err="1"/>
              <a:t>Đức</a:t>
            </a:r>
            <a:r>
              <a:rPr lang="en-US" sz="2400" dirty="0"/>
              <a:t> District</a:t>
            </a:r>
          </a:p>
          <a:p>
            <a:pPr lvl="2"/>
            <a:r>
              <a:rPr lang="en-US" sz="2400" dirty="0" err="1"/>
              <a:t>Cà</a:t>
            </a:r>
            <a:r>
              <a:rPr lang="en-US" sz="2400" dirty="0"/>
              <a:t> Mau</a:t>
            </a:r>
          </a:p>
          <a:p>
            <a:pPr lvl="2"/>
            <a:r>
              <a:rPr lang="en-US" sz="2400" dirty="0" err="1"/>
              <a:t>Bà</a:t>
            </a:r>
            <a:r>
              <a:rPr lang="en-US" sz="2400" dirty="0"/>
              <a:t> </a:t>
            </a:r>
            <a:r>
              <a:rPr lang="en-US" sz="2400" dirty="0" err="1"/>
              <a:t>Rịa</a:t>
            </a:r>
            <a:endParaRPr lang="en-US" sz="2400" dirty="0"/>
          </a:p>
          <a:p>
            <a:pPr lvl="2"/>
            <a:r>
              <a:rPr lang="en-US" sz="2400" dirty="0" err="1"/>
              <a:t>Sóc</a:t>
            </a:r>
            <a:r>
              <a:rPr lang="en-US" sz="2400" dirty="0"/>
              <a:t> </a:t>
            </a:r>
            <a:r>
              <a:rPr lang="en-US" sz="2400" dirty="0" err="1"/>
              <a:t>Trăng</a:t>
            </a:r>
            <a:endParaRPr lang="en-US" sz="2400" dirty="0"/>
          </a:p>
          <a:p>
            <a:pPr lvl="1"/>
            <a:endParaRPr lang="en-US" sz="2400" dirty="0"/>
          </a:p>
          <a:p>
            <a:pPr lvl="1"/>
            <a:r>
              <a:rPr lang="en-US" sz="2400" b="1" dirty="0"/>
              <a:t>93 schools </a:t>
            </a:r>
            <a:r>
              <a:rPr lang="en-US" sz="2400" dirty="0"/>
              <a:t>(not exhaustive search!)</a:t>
            </a:r>
            <a:r>
              <a:rPr lang="hr-HR" sz="2400" dirty="0"/>
              <a:t>, </a:t>
            </a:r>
            <a:r>
              <a:rPr lang="en-US" sz="2400" b="1" dirty="0"/>
              <a:t>20 981 overlapping tiles total </a:t>
            </a:r>
            <a:r>
              <a:rPr lang="en-US" sz="2400" dirty="0"/>
              <a:t>(after filtering)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Can be used for calculating recall</a:t>
            </a:r>
            <a:endParaRPr lang="hr-HR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ECB75F-135C-A7BC-6C35-8BE92C572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5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8325973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8BAA6-E551-BC82-95F6-C4FA4D6D1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F797F-1ED1-34BE-0A0F-0D1EE829A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Threshold validation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828D91-42A2-DCBA-68FA-77F71E3A01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We want to determine the ideal classification threshold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Get dense inference predictions for exhaustive dataset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Measure F1 score on predictions for </a:t>
            </a:r>
            <a:r>
              <a:rPr lang="en-US" sz="2400" b="1" dirty="0"/>
              <a:t>variable thresholds (0-1)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Pick threshold with the </a:t>
            </a:r>
            <a:r>
              <a:rPr lang="en-US" sz="2400" b="1" dirty="0"/>
              <a:t>highest F1 score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Get recall, precision and F1 score for chosen threshold on </a:t>
            </a:r>
            <a:r>
              <a:rPr lang="en-US" sz="2400" b="1" dirty="0"/>
              <a:t>exhaustive dataset</a:t>
            </a:r>
            <a:endParaRPr lang="hr-HR" sz="24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6D940A-0297-7717-4E28-6EE03B24E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6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7243649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626A37-C72A-63F8-A589-7D597A632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8EFEA-2516-F75F-43D8-AE40072DF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Threshold validation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552ABF-0779-DCEA-DDAA-B3B17DE210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737360"/>
            <a:ext cx="10058400" cy="4023360"/>
          </a:xfrm>
        </p:spPr>
        <p:txBody>
          <a:bodyPr>
            <a:noAutofit/>
          </a:bodyPr>
          <a:lstStyle/>
          <a:p>
            <a:pPr lvl="1"/>
            <a:r>
              <a:rPr lang="en-US" sz="2400" dirty="0"/>
              <a:t>Procedure is applied to multiple models with different fine-tune configurations (fine-tune on </a:t>
            </a:r>
            <a:r>
              <a:rPr lang="en-US" sz="2400" b="1" dirty="0" err="1"/>
              <a:t>Anditi</a:t>
            </a:r>
            <a:r>
              <a:rPr lang="en-US" sz="2400" b="1" dirty="0"/>
              <a:t> dataset </a:t>
            </a:r>
            <a:r>
              <a:rPr lang="en-US" sz="2400" dirty="0"/>
              <a:t>with non-schools sampled from </a:t>
            </a:r>
            <a:r>
              <a:rPr lang="en-US" sz="2400" b="1" dirty="0"/>
              <a:t>OSM Vietnam</a:t>
            </a:r>
            <a:r>
              <a:rPr lang="en-US" sz="2400" dirty="0"/>
              <a:t>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Different number of </a:t>
            </a:r>
            <a:r>
              <a:rPr lang="en-US" sz="2400" b="1" dirty="0"/>
              <a:t>fine-tune epochs</a:t>
            </a:r>
            <a:r>
              <a:rPr lang="en-US" sz="2400" dirty="0"/>
              <a:t>:</a:t>
            </a:r>
          </a:p>
          <a:p>
            <a:pPr lvl="2"/>
            <a:r>
              <a:rPr lang="en-US" sz="2400" dirty="0"/>
              <a:t>1 epoch</a:t>
            </a:r>
          </a:p>
          <a:p>
            <a:pPr lvl="2"/>
            <a:r>
              <a:rPr lang="en-US" sz="2400" dirty="0"/>
              <a:t>20 epochs</a:t>
            </a:r>
          </a:p>
          <a:p>
            <a:pPr lvl="1"/>
            <a:endParaRPr lang="en-US" sz="2400" dirty="0"/>
          </a:p>
          <a:p>
            <a:pPr lvl="1"/>
            <a:r>
              <a:rPr lang="en-US" sz="2400" b="1" dirty="0"/>
              <a:t>Dynamic Gaussian </a:t>
            </a:r>
            <a:r>
              <a:rPr lang="en-US" sz="2400" dirty="0"/>
              <a:t>non-school sampling with different school : non-school sampling ratios:</a:t>
            </a:r>
          </a:p>
          <a:p>
            <a:pPr lvl="2"/>
            <a:r>
              <a:rPr lang="en-US" sz="2400" dirty="0"/>
              <a:t>1:1</a:t>
            </a:r>
          </a:p>
          <a:p>
            <a:pPr lvl="2"/>
            <a:r>
              <a:rPr lang="en-US" sz="2400" dirty="0"/>
              <a:t>1:10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5890E-8433-CECB-B45D-4EA4F3240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7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1729951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DED435-E7EF-A074-1792-F7E620060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5F402-0E7C-F258-F854-4891C701F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Threshold validation, results</a:t>
            </a:r>
            <a:endParaRPr lang="hr-H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7B9C44-E66C-25B2-06F1-00CF4969C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8</a:t>
            </a:fld>
            <a:endParaRPr lang="hr-HR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AA471C1-E740-0DBB-1099-4BD83D1F73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5804292"/>
              </p:ext>
            </p:extLst>
          </p:nvPr>
        </p:nvGraphicFramePr>
        <p:xfrm>
          <a:off x="1060632" y="1737360"/>
          <a:ext cx="10070736" cy="4573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8456">
                  <a:extLst>
                    <a:ext uri="{9D8B030D-6E8A-4147-A177-3AD203B41FA5}">
                      <a16:colId xmlns:a16="http://schemas.microsoft.com/office/drawing/2014/main" val="1991548073"/>
                    </a:ext>
                  </a:extLst>
                </a:gridCol>
                <a:gridCol w="1678456">
                  <a:extLst>
                    <a:ext uri="{9D8B030D-6E8A-4147-A177-3AD203B41FA5}">
                      <a16:colId xmlns:a16="http://schemas.microsoft.com/office/drawing/2014/main" val="3575401396"/>
                    </a:ext>
                  </a:extLst>
                </a:gridCol>
                <a:gridCol w="1678456">
                  <a:extLst>
                    <a:ext uri="{9D8B030D-6E8A-4147-A177-3AD203B41FA5}">
                      <a16:colId xmlns:a16="http://schemas.microsoft.com/office/drawing/2014/main" val="2013928293"/>
                    </a:ext>
                  </a:extLst>
                </a:gridCol>
                <a:gridCol w="1678456">
                  <a:extLst>
                    <a:ext uri="{9D8B030D-6E8A-4147-A177-3AD203B41FA5}">
                      <a16:colId xmlns:a16="http://schemas.microsoft.com/office/drawing/2014/main" val="682525828"/>
                    </a:ext>
                  </a:extLst>
                </a:gridCol>
                <a:gridCol w="1678456">
                  <a:extLst>
                    <a:ext uri="{9D8B030D-6E8A-4147-A177-3AD203B41FA5}">
                      <a16:colId xmlns:a16="http://schemas.microsoft.com/office/drawing/2014/main" val="2417135976"/>
                    </a:ext>
                  </a:extLst>
                </a:gridCol>
                <a:gridCol w="1678456">
                  <a:extLst>
                    <a:ext uri="{9D8B030D-6E8A-4147-A177-3AD203B41FA5}">
                      <a16:colId xmlns:a16="http://schemas.microsoft.com/office/drawing/2014/main" val="1842548248"/>
                    </a:ext>
                  </a:extLst>
                </a:gridCol>
              </a:tblGrid>
              <a:tr h="1169814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School : non-school ratio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Fine-tune epochs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Best threshold (%)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Best </a:t>
                      </a:r>
                    </a:p>
                    <a:p>
                      <a:pPr algn="ctr"/>
                      <a:r>
                        <a:rPr lang="en-US" sz="2400" dirty="0"/>
                        <a:t>F1 score (%)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Best </a:t>
                      </a:r>
                    </a:p>
                    <a:p>
                      <a:pPr algn="ctr"/>
                      <a:r>
                        <a:rPr lang="en-US" sz="2400" dirty="0"/>
                        <a:t>Recall</a:t>
                      </a:r>
                    </a:p>
                    <a:p>
                      <a:pPr algn="ctr"/>
                      <a:r>
                        <a:rPr lang="en-US" sz="2400" dirty="0"/>
                        <a:t>(%)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Best precision (%)</a:t>
                      </a:r>
                      <a:endParaRPr lang="hr-HR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54719664"/>
                  </a:ext>
                </a:extLst>
              </a:tr>
              <a:tr h="846246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1:1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20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3.61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61.85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97.27</a:t>
                      </a:r>
                      <a:endParaRPr lang="hr-HR" sz="2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45.34</a:t>
                      </a:r>
                      <a:endParaRPr lang="hr-HR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85629051"/>
                  </a:ext>
                </a:extLst>
              </a:tr>
              <a:tr h="846246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1:10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20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4.04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63.70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84.55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51.10</a:t>
                      </a:r>
                      <a:endParaRPr lang="hr-HR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4735351"/>
                  </a:ext>
                </a:extLst>
              </a:tr>
              <a:tr h="846246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1:1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sz="2400" dirty="0"/>
                        <a:t>8.35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sz="2400" b="1" dirty="0"/>
                        <a:t>70.90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sz="2400" dirty="0"/>
                        <a:t> 96.36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sz="2400" dirty="0"/>
                        <a:t>56.08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04148820"/>
                  </a:ext>
                </a:extLst>
              </a:tr>
              <a:tr h="846246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1:10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6.33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dirty="0"/>
                        <a:t>69.14</a:t>
                      </a:r>
                      <a:endParaRPr lang="hr-HR" sz="24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76.36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63.16</a:t>
                      </a:r>
                      <a:endParaRPr lang="hr-HR" sz="24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417384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83530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A4B6F-A67D-47F8-0AC9-D5A6D9EDF7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EF5EB-E821-11D7-3A1D-5FBA3FA7E7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Potential problems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D56BF6-AA3A-0C0C-CF29-C1DE7A3C16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Precision, recall and F1 score calculated on the data used for obtaining the best threshold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Potential</a:t>
            </a:r>
            <a:r>
              <a:rPr lang="en-US" sz="2400" b="1" dirty="0"/>
              <a:t> over-optimistic results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It would be better if we could choose the </a:t>
            </a:r>
            <a:r>
              <a:rPr lang="en-US" sz="2400" b="1" dirty="0"/>
              <a:t>best threshold based on one subset </a:t>
            </a:r>
            <a:r>
              <a:rPr lang="en-US" sz="2400" dirty="0"/>
              <a:t>and then evaluate the model’s performance with the chosen threshold on a second subset (test set)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We could use a </a:t>
            </a:r>
            <a:r>
              <a:rPr lang="en-US" sz="2400" b="1" dirty="0"/>
              <a:t>baseline</a:t>
            </a:r>
            <a:r>
              <a:rPr lang="en-US" sz="2400" dirty="0"/>
              <a:t> (model without fine-tuning)</a:t>
            </a:r>
            <a:endParaRPr lang="hr-HR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3C5713-A77B-C7BF-84FB-7204F5022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9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6683804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98C4C-ADFA-E377-A608-96ED92F229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New contributions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32EDB9-7240-C743-A2C6-0614DD316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10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1632649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EAD91C-1C6E-90D3-F571-66DB4210A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09BAF-35BE-BE66-5317-AE0AD8BCE9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4-fold threshold validation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669580-0408-36F5-9473-F0E114DF59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1"/>
            <a:r>
              <a:rPr lang="en-US" sz="2400" dirty="0"/>
              <a:t>Split </a:t>
            </a:r>
            <a:r>
              <a:rPr lang="en-US" sz="2400" b="1" dirty="0"/>
              <a:t>exhaustive dataset </a:t>
            </a:r>
            <a:r>
              <a:rPr lang="en-US" sz="2400" dirty="0"/>
              <a:t>into </a:t>
            </a:r>
            <a:r>
              <a:rPr lang="en-US" sz="2400" b="1" dirty="0"/>
              <a:t>4 folds </a:t>
            </a:r>
            <a:r>
              <a:rPr lang="en-US" sz="2400" dirty="0"/>
              <a:t>(each ward equals 1 fold) </a:t>
            </a:r>
          </a:p>
          <a:p>
            <a:pPr lvl="1"/>
            <a:endParaRPr lang="en-US" sz="2400" b="1" dirty="0"/>
          </a:p>
          <a:p>
            <a:pPr lvl="1"/>
            <a:r>
              <a:rPr lang="en-US" sz="2400" dirty="0"/>
              <a:t>For each fold:</a:t>
            </a:r>
          </a:p>
          <a:p>
            <a:pPr lvl="2"/>
            <a:r>
              <a:rPr lang="en-US" sz="2400" dirty="0"/>
              <a:t>Find the best threshold (based on F1 score for the fold)</a:t>
            </a:r>
          </a:p>
          <a:p>
            <a:pPr lvl="2"/>
            <a:r>
              <a:rPr lang="en-US" sz="2400" dirty="0"/>
              <a:t>Calculate precision, recall and F1 score on the other 3 folds (merged into one dataset)</a:t>
            </a:r>
          </a:p>
          <a:p>
            <a:pPr lvl="2"/>
            <a:endParaRPr lang="en-US" sz="2400" dirty="0"/>
          </a:p>
          <a:p>
            <a:pPr lvl="1"/>
            <a:r>
              <a:rPr lang="en-US" sz="2400" dirty="0"/>
              <a:t>Best threshold decision and metrics calculation are </a:t>
            </a:r>
            <a:r>
              <a:rPr lang="en-US" sz="2400" b="1" dirty="0"/>
              <a:t>not based on the same dataset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Finally, calculate the mean, as well as the standard deviation for the metrics</a:t>
            </a:r>
          </a:p>
          <a:p>
            <a:pPr lvl="1"/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36F620-15B9-0FF0-F2E6-284D99F3A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11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2169778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8DF853-62DC-BEAC-B8E7-AD15A4FDD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49E59A-5160-3F1D-4EED-3E04102E9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12</a:t>
            </a:fld>
            <a:endParaRPr lang="hr-HR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4410CFD-403C-9B38-960E-FD7F260055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6935166"/>
              </p:ext>
            </p:extLst>
          </p:nvPr>
        </p:nvGraphicFramePr>
        <p:xfrm>
          <a:off x="184164" y="719025"/>
          <a:ext cx="11823672" cy="5419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4623">
                  <a:extLst>
                    <a:ext uri="{9D8B030D-6E8A-4147-A177-3AD203B41FA5}">
                      <a16:colId xmlns:a16="http://schemas.microsoft.com/office/drawing/2014/main" val="1991548073"/>
                    </a:ext>
                  </a:extLst>
                </a:gridCol>
                <a:gridCol w="1391404">
                  <a:extLst>
                    <a:ext uri="{9D8B030D-6E8A-4147-A177-3AD203B41FA5}">
                      <a16:colId xmlns:a16="http://schemas.microsoft.com/office/drawing/2014/main" val="3575401396"/>
                    </a:ext>
                  </a:extLst>
                </a:gridCol>
                <a:gridCol w="1589483">
                  <a:extLst>
                    <a:ext uri="{9D8B030D-6E8A-4147-A177-3AD203B41FA5}">
                      <a16:colId xmlns:a16="http://schemas.microsoft.com/office/drawing/2014/main" val="330325923"/>
                    </a:ext>
                  </a:extLst>
                </a:gridCol>
                <a:gridCol w="1907378">
                  <a:extLst>
                    <a:ext uri="{9D8B030D-6E8A-4147-A177-3AD203B41FA5}">
                      <a16:colId xmlns:a16="http://schemas.microsoft.com/office/drawing/2014/main" val="2013928293"/>
                    </a:ext>
                  </a:extLst>
                </a:gridCol>
                <a:gridCol w="1700055">
                  <a:extLst>
                    <a:ext uri="{9D8B030D-6E8A-4147-A177-3AD203B41FA5}">
                      <a16:colId xmlns:a16="http://schemas.microsoft.com/office/drawing/2014/main" val="682525828"/>
                    </a:ext>
                  </a:extLst>
                </a:gridCol>
                <a:gridCol w="1686234">
                  <a:extLst>
                    <a:ext uri="{9D8B030D-6E8A-4147-A177-3AD203B41FA5}">
                      <a16:colId xmlns:a16="http://schemas.microsoft.com/office/drawing/2014/main" val="2417135976"/>
                    </a:ext>
                  </a:extLst>
                </a:gridCol>
                <a:gridCol w="1904495">
                  <a:extLst>
                    <a:ext uri="{9D8B030D-6E8A-4147-A177-3AD203B41FA5}">
                      <a16:colId xmlns:a16="http://schemas.microsoft.com/office/drawing/2014/main" val="1842548248"/>
                    </a:ext>
                  </a:extLst>
                </a:gridCol>
              </a:tblGrid>
              <a:tr h="1169814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School : non-school ratio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Fine-tune epochs</a:t>
                      </a:r>
                      <a:endParaRPr lang="hr-HR" sz="2400" dirty="0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Best threshold (%)</a:t>
                      </a:r>
                      <a:endParaRPr lang="hr-HR" sz="2400" dirty="0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4-fold validation threshold (%)</a:t>
                      </a:r>
                      <a:endParaRPr lang="hr-HR" sz="2400" dirty="0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F1 score (%)</a:t>
                      </a:r>
                      <a:endParaRPr lang="hr-HR" sz="2400" dirty="0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Recall (%)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Precision (%)</a:t>
                      </a:r>
                      <a:endParaRPr lang="hr-HR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54719664"/>
                  </a:ext>
                </a:extLst>
              </a:tr>
              <a:tr h="846246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-</a:t>
                      </a:r>
                      <a:endParaRPr lang="hr-HR" sz="2400" dirty="0"/>
                    </a:p>
                  </a:txBody>
                  <a:tcPr anchor="ctr"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</a:t>
                      </a:r>
                      <a:endParaRPr lang="hr-HR" sz="2400" dirty="0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10.4</a:t>
                      </a:r>
                      <a:endParaRPr lang="hr-HR" sz="2400" dirty="0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sz="2400" dirty="0"/>
                        <a:t>39.3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hr-HR" sz="2400" dirty="0"/>
                        <a:t> 25.6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sz="2400" dirty="0"/>
                        <a:t>62.4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hr-HR" sz="2400" dirty="0"/>
                        <a:t> 5.7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sz="2400" b="0" dirty="0"/>
                        <a:t>60.1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hr-HR" sz="2400" b="0" dirty="0"/>
                        <a:t> 15.5</a:t>
                      </a:r>
                    </a:p>
                  </a:txBody>
                  <a:tcPr anchor="ctr"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70.0</a:t>
                      </a:r>
                      <a:r>
                        <a:rPr lang="hr-HR" sz="2400" b="1" dirty="0"/>
                        <a:t> </a:t>
                      </a:r>
                      <a:r>
                        <a:rPr lang="hr-HR" sz="24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hr-HR" sz="2400" b="1" dirty="0"/>
                        <a:t> 8.5</a:t>
                      </a:r>
                    </a:p>
                  </a:txBody>
                  <a:tcPr anchor="ctr"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0123828"/>
                  </a:ext>
                </a:extLst>
              </a:tr>
              <a:tr h="846246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1:1</a:t>
                      </a:r>
                      <a:endParaRPr lang="hr-HR" sz="2400" dirty="0"/>
                    </a:p>
                  </a:txBody>
                  <a:tcPr anchor="ctr"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20</a:t>
                      </a:r>
                      <a:endParaRPr lang="hr-HR" sz="2400" dirty="0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3.6</a:t>
                      </a:r>
                      <a:endParaRPr lang="hr-HR" sz="2400" dirty="0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7.6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US" sz="2400" dirty="0"/>
                        <a:t> 6.1</a:t>
                      </a:r>
                      <a:endParaRPr lang="hr-HR" sz="2400" dirty="0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52.0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US" sz="2400" dirty="0"/>
                        <a:t> 4.6</a:t>
                      </a:r>
                      <a:endParaRPr lang="hr-HR" sz="2400" dirty="0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dirty="0"/>
                        <a:t>65.8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US" sz="2400" b="0" dirty="0"/>
                        <a:t> 23.5</a:t>
                      </a:r>
                      <a:endParaRPr lang="hr-HR" sz="2400" b="0" dirty="0"/>
                    </a:p>
                  </a:txBody>
                  <a:tcPr anchor="ctr"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49.7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US" sz="2400" dirty="0"/>
                        <a:t> 12.3</a:t>
                      </a:r>
                      <a:endParaRPr lang="hr-HR" sz="2400" dirty="0"/>
                    </a:p>
                  </a:txBody>
                  <a:tcPr anchor="ctr"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085629051"/>
                  </a:ext>
                </a:extLst>
              </a:tr>
              <a:tr h="846246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1:10</a:t>
                      </a:r>
                      <a:endParaRPr lang="hr-HR" sz="2400" dirty="0"/>
                    </a:p>
                  </a:txBody>
                  <a:tcPr anchor="ctr"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20</a:t>
                      </a:r>
                      <a:endParaRPr lang="hr-HR" sz="2400" dirty="0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4.0</a:t>
                      </a:r>
                      <a:endParaRPr lang="hr-HR" sz="2400" dirty="0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4.0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US" sz="2400" dirty="0"/>
                        <a:t> 0.1</a:t>
                      </a:r>
                      <a:endParaRPr lang="hr-HR" sz="2400" dirty="0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59.5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US" sz="2400" dirty="0"/>
                        <a:t> 3.8</a:t>
                      </a:r>
                      <a:endParaRPr lang="hr-HR" sz="2400" dirty="0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85.2 </a:t>
                      </a:r>
                      <a:r>
                        <a:rPr lang="hr-HR" sz="24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US" sz="2400" b="1" dirty="0"/>
                        <a:t> 13.3</a:t>
                      </a:r>
                      <a:endParaRPr lang="hr-HR" sz="2400" b="1" dirty="0"/>
                    </a:p>
                  </a:txBody>
                  <a:tcPr anchor="ctr"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46.3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US" sz="2400" dirty="0"/>
                        <a:t> 2.2</a:t>
                      </a:r>
                      <a:endParaRPr lang="hr-HR" sz="2400" dirty="0"/>
                    </a:p>
                  </a:txBody>
                  <a:tcPr anchor="ctr"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4735351"/>
                  </a:ext>
                </a:extLst>
              </a:tr>
              <a:tr h="846246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1:1</a:t>
                      </a:r>
                      <a:endParaRPr lang="hr-HR" sz="2400" dirty="0"/>
                    </a:p>
                  </a:txBody>
                  <a:tcPr anchor="ctr"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  <a:endParaRPr lang="hr-HR" sz="2400" dirty="0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8.4</a:t>
                      </a:r>
                      <a:endParaRPr lang="hr-HR" sz="2400" dirty="0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sz="2400" dirty="0"/>
                        <a:t>18.9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hr-HR" sz="2400" dirty="0"/>
                        <a:t> 15.</a:t>
                      </a:r>
                      <a:r>
                        <a:rPr lang="en-US" sz="2400" dirty="0"/>
                        <a:t>4</a:t>
                      </a:r>
                      <a:endParaRPr lang="hr-HR" sz="2400" dirty="0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sz="2400" b="1" dirty="0"/>
                        <a:t>65.6 </a:t>
                      </a:r>
                      <a:r>
                        <a:rPr lang="hr-HR" sz="24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hr-HR" sz="2400" b="1" dirty="0"/>
                        <a:t> 4.1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sz="2400" dirty="0"/>
                        <a:t> 78.</a:t>
                      </a:r>
                      <a:r>
                        <a:rPr lang="en-US" sz="2400" dirty="0"/>
                        <a:t>5</a:t>
                      </a:r>
                      <a:r>
                        <a:rPr lang="hr-HR" sz="2400" dirty="0"/>
                        <a:t>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hr-HR" sz="2400" dirty="0"/>
                        <a:t> 15.4</a:t>
                      </a:r>
                    </a:p>
                  </a:txBody>
                  <a:tcPr anchor="ctr"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sz="2400" dirty="0"/>
                        <a:t>58.7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hr-HR" sz="2400" dirty="0"/>
                        <a:t> 7.</a:t>
                      </a:r>
                      <a:r>
                        <a:rPr lang="en-US" sz="2400" dirty="0"/>
                        <a:t>5</a:t>
                      </a:r>
                      <a:endParaRPr lang="hr-HR" sz="2400" dirty="0"/>
                    </a:p>
                  </a:txBody>
                  <a:tcPr anchor="ctr"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04148820"/>
                  </a:ext>
                </a:extLst>
              </a:tr>
              <a:tr h="846246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1:10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  <a:endParaRPr lang="hr-HR" sz="2400" dirty="0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6.3</a:t>
                      </a:r>
                      <a:endParaRPr lang="hr-HR" sz="2400" dirty="0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12.3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US" sz="2400" dirty="0"/>
                        <a:t> 10.2</a:t>
                      </a:r>
                      <a:endParaRPr lang="hr-HR" sz="2400" dirty="0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dirty="0"/>
                        <a:t>59.2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US" sz="2400" b="0" dirty="0"/>
                        <a:t> 8.6</a:t>
                      </a:r>
                      <a:endParaRPr lang="hr-HR" sz="2400" b="0" dirty="0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62.5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US" sz="2400" dirty="0"/>
                        <a:t> 21.6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dirty="0"/>
                        <a:t>67.5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US" sz="2400" b="0" dirty="0"/>
                        <a:t> 16.4</a:t>
                      </a:r>
                      <a:endParaRPr lang="hr-HR" sz="24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417384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36521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D83E4-1BAE-01F8-DF4A-27D01FFA1F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6C740-88A9-2413-930E-27D8E2916C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4-fold threshold validation, results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61B61D-A654-4EB2-22B2-739A94E039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endParaRPr lang="en-US" sz="2400" dirty="0"/>
          </a:p>
          <a:p>
            <a:pPr lvl="1"/>
            <a:r>
              <a:rPr lang="en-US" sz="2400" dirty="0"/>
              <a:t>Based on F1 score, we choose the </a:t>
            </a:r>
            <a:r>
              <a:rPr lang="en-US" sz="2400" b="1" dirty="0"/>
              <a:t>model fine-tuned for 1 epoch with 1:1 school : non-school sampling ratio </a:t>
            </a:r>
            <a:r>
              <a:rPr lang="en-US" sz="2400" dirty="0"/>
              <a:t>as the best model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For dense inference, we use the threshold obtained from threshold validation (</a:t>
            </a:r>
            <a:r>
              <a:rPr lang="hr-HR" sz="2400" b="1" dirty="0"/>
              <a:t>8.35</a:t>
            </a:r>
            <a:r>
              <a:rPr lang="en-US" sz="2400" b="1" dirty="0"/>
              <a:t>%</a:t>
            </a:r>
            <a:r>
              <a:rPr lang="en-US" sz="2400" dirty="0"/>
              <a:t>)</a:t>
            </a:r>
            <a:endParaRPr lang="hr-HR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96172F-0D3F-E9C8-EC1C-06F6A304C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13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1013510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54D12-15AF-C83D-53E5-764C158ECD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Dense inference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C9DA01-6CB6-94B5-8278-256D8420CE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Use</a:t>
            </a:r>
            <a:r>
              <a:rPr lang="hr-HR" sz="2400" dirty="0"/>
              <a:t> </a:t>
            </a:r>
            <a:r>
              <a:rPr lang="en-US" sz="2400" dirty="0"/>
              <a:t>fine-tuned model on </a:t>
            </a:r>
            <a:r>
              <a:rPr lang="en-US" sz="2400" b="1" dirty="0"/>
              <a:t>overlapping satellite images</a:t>
            </a:r>
            <a:r>
              <a:rPr lang="en-US" sz="2400" dirty="0"/>
              <a:t> (tiles) from chosen districts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Perform non-maximum suppression (</a:t>
            </a:r>
            <a:r>
              <a:rPr lang="en-US" sz="2400" b="1" dirty="0"/>
              <a:t>NMS</a:t>
            </a:r>
            <a:r>
              <a:rPr lang="en-US" sz="2400" dirty="0"/>
              <a:t>) to reduce the number of duplicate detections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Measure </a:t>
            </a:r>
            <a:r>
              <a:rPr lang="en-US" sz="2400" b="1" dirty="0"/>
              <a:t>number of detected schools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Deliver </a:t>
            </a:r>
            <a:r>
              <a:rPr lang="en-US" sz="2400" b="1" dirty="0"/>
              <a:t>list of potential schools </a:t>
            </a:r>
            <a:r>
              <a:rPr lang="en-US" sz="2400" dirty="0"/>
              <a:t>sorted by prediction confidence</a:t>
            </a:r>
            <a:endParaRPr lang="hr-HR" sz="2400" dirty="0"/>
          </a:p>
          <a:p>
            <a:pPr marL="201168" lvl="1" indent="0">
              <a:buNone/>
            </a:pPr>
            <a:endParaRPr lang="en-US" sz="2400" dirty="0"/>
          </a:p>
          <a:p>
            <a:pPr lvl="1"/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EB7E46-84AA-C294-3543-BD508C496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14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6012875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785115-DDD2-59BA-D33F-73DBC17A7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608D2-A053-BA4C-122A-0FAC6FFCA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616738" cy="1450757"/>
          </a:xfrm>
        </p:spPr>
        <p:txBody>
          <a:bodyPr/>
          <a:lstStyle/>
          <a:p>
            <a:r>
              <a:rPr lang="hr-HR" dirty="0"/>
              <a:t>Dense inference</a:t>
            </a:r>
            <a:r>
              <a:rPr lang="en-US" dirty="0"/>
              <a:t>, </a:t>
            </a:r>
            <a:r>
              <a:rPr lang="en-US" dirty="0" err="1"/>
              <a:t>Anditi</a:t>
            </a:r>
            <a:r>
              <a:rPr lang="en-US" dirty="0"/>
              <a:t> results (after NMS)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3E2799-A9B7-C71D-C7A2-FA6AEE1D2E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1845733"/>
            <a:ext cx="10772503" cy="4441855"/>
          </a:xfrm>
        </p:spPr>
        <p:txBody>
          <a:bodyPr>
            <a:normAutofit/>
          </a:bodyPr>
          <a:lstStyle/>
          <a:p>
            <a:pPr lvl="1"/>
            <a:r>
              <a:rPr lang="hr-HR" sz="2400" dirty="0"/>
              <a:t>Check performance on </a:t>
            </a:r>
            <a:r>
              <a:rPr lang="hr-HR" sz="2400" b="1" dirty="0"/>
              <a:t>train data (Anditi schools) </a:t>
            </a:r>
            <a:r>
              <a:rPr lang="hr-HR" sz="2400" dirty="0"/>
              <a:t>–</a:t>
            </a:r>
            <a:r>
              <a:rPr lang="en-US" sz="2400" dirty="0"/>
              <a:t> sanity check</a:t>
            </a:r>
          </a:p>
          <a:p>
            <a:pPr marL="201168" lvl="1" indent="0">
              <a:buNone/>
            </a:pPr>
            <a:endParaRPr lang="hr-HR" sz="2400" dirty="0"/>
          </a:p>
          <a:p>
            <a:pPr lvl="1"/>
            <a:r>
              <a:rPr lang="en-US" sz="2400" dirty="0"/>
              <a:t>Found 936/946 (</a:t>
            </a:r>
            <a:r>
              <a:rPr lang="en-US" sz="2400" b="1" dirty="0"/>
              <a:t>98.94%</a:t>
            </a:r>
            <a:r>
              <a:rPr lang="en-US" sz="2400" dirty="0"/>
              <a:t>)</a:t>
            </a:r>
            <a:r>
              <a:rPr lang="en-US" sz="2400" b="1" dirty="0"/>
              <a:t> </a:t>
            </a:r>
            <a:r>
              <a:rPr lang="en-US" sz="2400" dirty="0" err="1"/>
              <a:t>Anditi</a:t>
            </a:r>
            <a:r>
              <a:rPr lang="en-US" sz="2400" dirty="0"/>
              <a:t> schools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Recall: 98.94%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10 not detected schools (</a:t>
            </a:r>
            <a:r>
              <a:rPr lang="en-US" sz="2400" b="1" dirty="0"/>
              <a:t>1.06%</a:t>
            </a:r>
            <a:r>
              <a:rPr lang="en-US" sz="2400" dirty="0"/>
              <a:t>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List of potential schools: </a:t>
            </a:r>
            <a:r>
              <a:rPr lang="en-US" sz="2400" b="1" dirty="0"/>
              <a:t>17 205 images </a:t>
            </a:r>
            <a:endParaRPr lang="hr-HR" sz="24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C47BBB-1A02-75C1-AC3F-7D66D9FB0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15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5530986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02C21-7E56-4F69-015C-2327638DF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FFA1E-E1B5-EC4E-A83A-2132B5355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9" y="286603"/>
            <a:ext cx="10457411" cy="1450757"/>
          </a:xfrm>
        </p:spPr>
        <p:txBody>
          <a:bodyPr/>
          <a:lstStyle/>
          <a:p>
            <a:r>
              <a:rPr lang="hr-HR" dirty="0"/>
              <a:t>Dense inference</a:t>
            </a:r>
            <a:r>
              <a:rPr lang="en-US" dirty="0"/>
              <a:t>, wide results (after NMS)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00BB3-59DC-26AE-DF5A-EC1A2B0566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1845733"/>
            <a:ext cx="10772503" cy="4441855"/>
          </a:xfrm>
        </p:spPr>
        <p:txBody>
          <a:bodyPr>
            <a:normAutofit/>
          </a:bodyPr>
          <a:lstStyle/>
          <a:p>
            <a:pPr lvl="1"/>
            <a:r>
              <a:rPr lang="hr-HR" sz="2400" dirty="0"/>
              <a:t>Check performance on </a:t>
            </a:r>
            <a:r>
              <a:rPr lang="en-US" sz="2400" b="1" dirty="0"/>
              <a:t>wide</a:t>
            </a:r>
            <a:r>
              <a:rPr lang="hr-HR" sz="2400" b="1" dirty="0"/>
              <a:t> data</a:t>
            </a:r>
            <a:r>
              <a:rPr lang="en-US" sz="2400" b="1" dirty="0"/>
              <a:t>set</a:t>
            </a:r>
          </a:p>
          <a:p>
            <a:pPr marL="201168" lvl="1" indent="0">
              <a:buNone/>
            </a:pPr>
            <a:endParaRPr lang="hr-HR" sz="2400" dirty="0"/>
          </a:p>
          <a:p>
            <a:pPr lvl="1"/>
            <a:r>
              <a:rPr lang="en-US" sz="2400" dirty="0"/>
              <a:t>Found 88/93 (</a:t>
            </a:r>
            <a:r>
              <a:rPr lang="en-US" sz="2400" b="1" dirty="0"/>
              <a:t>94.62%</a:t>
            </a:r>
            <a:r>
              <a:rPr lang="en-US" sz="2400" dirty="0"/>
              <a:t>)</a:t>
            </a:r>
            <a:r>
              <a:rPr lang="en-US" sz="2400" b="1" dirty="0"/>
              <a:t> </a:t>
            </a:r>
            <a:r>
              <a:rPr lang="en-US" sz="2400" dirty="0"/>
              <a:t>schools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Recall: 94.62%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5 not detected schools (</a:t>
            </a:r>
            <a:r>
              <a:rPr lang="en-US" sz="2400" b="1" dirty="0"/>
              <a:t>5.38%</a:t>
            </a:r>
            <a:r>
              <a:rPr lang="en-US" sz="2400" dirty="0"/>
              <a:t>)</a:t>
            </a:r>
          </a:p>
          <a:p>
            <a:pPr marL="201168" lvl="1" indent="0">
              <a:buNone/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201542-DA6E-1C0A-4513-CDA6DC54E0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16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7197816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8AD634-683B-4126-198F-3D36E74BE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D237B-68BE-50F4-B716-62B8F278E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Progress comparison</a:t>
            </a:r>
            <a:endParaRPr lang="hr-H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CBAF89-9139-C8E3-B59E-6CC910A29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17</a:t>
            </a:fld>
            <a:endParaRPr lang="hr-HR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1AF2492-4C7A-650C-864A-6C88C1A515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6229268"/>
              </p:ext>
            </p:extLst>
          </p:nvPr>
        </p:nvGraphicFramePr>
        <p:xfrm>
          <a:off x="1015315" y="1869391"/>
          <a:ext cx="10161370" cy="37457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8791">
                  <a:extLst>
                    <a:ext uri="{9D8B030D-6E8A-4147-A177-3AD203B41FA5}">
                      <a16:colId xmlns:a16="http://schemas.microsoft.com/office/drawing/2014/main" val="1991548073"/>
                    </a:ext>
                  </a:extLst>
                </a:gridCol>
                <a:gridCol w="1901669">
                  <a:extLst>
                    <a:ext uri="{9D8B030D-6E8A-4147-A177-3AD203B41FA5}">
                      <a16:colId xmlns:a16="http://schemas.microsoft.com/office/drawing/2014/main" val="3366048298"/>
                    </a:ext>
                  </a:extLst>
                </a:gridCol>
                <a:gridCol w="2630910">
                  <a:extLst>
                    <a:ext uri="{9D8B030D-6E8A-4147-A177-3AD203B41FA5}">
                      <a16:colId xmlns:a16="http://schemas.microsoft.com/office/drawing/2014/main" val="3575401396"/>
                    </a:ext>
                  </a:extLst>
                </a:gridCol>
              </a:tblGrid>
              <a:tr h="92195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Experiment description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Final threshold (%)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Test F1 score (%)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54719664"/>
                  </a:ext>
                </a:extLst>
              </a:tr>
              <a:tr h="66694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No fine-tune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10.43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hr-HR" sz="2400" dirty="0"/>
                        <a:t>62.4</a:t>
                      </a:r>
                      <a:r>
                        <a:rPr lang="en-US" sz="2400" dirty="0"/>
                        <a:t>0</a:t>
                      </a:r>
                      <a:endParaRPr lang="hr-HR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85629051"/>
                  </a:ext>
                </a:extLst>
              </a:tr>
              <a:tr h="66694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Fine-tune on </a:t>
                      </a:r>
                      <a:r>
                        <a:rPr lang="en-US" sz="2400" dirty="0" err="1"/>
                        <a:t>Anditi</a:t>
                      </a:r>
                      <a:r>
                        <a:rPr lang="en-US" sz="2400" dirty="0"/>
                        <a:t>, 1 epoch, 1:1 ratio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50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60.64</a:t>
                      </a:r>
                      <a:endParaRPr lang="hr-HR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4735351"/>
                  </a:ext>
                </a:extLst>
              </a:tr>
              <a:tr h="66694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Fine-tune on </a:t>
                      </a:r>
                      <a:r>
                        <a:rPr lang="en-US" sz="2400" dirty="0" err="1"/>
                        <a:t>Anditi</a:t>
                      </a:r>
                      <a:r>
                        <a:rPr lang="en-US" sz="2400" dirty="0"/>
                        <a:t>, 1 epoch, 1:1 ratio</a:t>
                      </a:r>
                      <a:endParaRPr lang="hr-HR" sz="2400" dirty="0"/>
                    </a:p>
                  </a:txBody>
                  <a:tcPr anchor="ctr"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8.35</a:t>
                      </a:r>
                      <a:endParaRPr lang="hr-HR" sz="2400" dirty="0"/>
                    </a:p>
                  </a:txBody>
                  <a:tcPr anchor="ctr"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65.64</a:t>
                      </a:r>
                      <a:endParaRPr lang="hr-HR" sz="2400" b="1" dirty="0"/>
                    </a:p>
                  </a:txBody>
                  <a:tcPr anchor="ctr"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4148820"/>
                  </a:ext>
                </a:extLst>
              </a:tr>
              <a:tr h="66694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Fine-tune on </a:t>
                      </a:r>
                      <a:r>
                        <a:rPr lang="en-US" sz="2400" dirty="0" err="1"/>
                        <a:t>Anditi</a:t>
                      </a:r>
                      <a:r>
                        <a:rPr lang="en-US" sz="2400" dirty="0"/>
                        <a:t>, 1 epoch, 1:1 ratio, </a:t>
                      </a:r>
                      <a:r>
                        <a:rPr lang="en-US" sz="2400" b="1" dirty="0"/>
                        <a:t>over-optimistic (oracle)</a:t>
                      </a:r>
                      <a:endParaRPr lang="hr-HR" sz="2400" b="1" dirty="0"/>
                    </a:p>
                  </a:txBody>
                  <a:tcPr anchor="ctr"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8.35</a:t>
                      </a:r>
                      <a:endParaRPr lang="hr-HR" sz="2400" dirty="0"/>
                    </a:p>
                  </a:txBody>
                  <a:tcPr anchor="ctr"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70.90*</a:t>
                      </a:r>
                      <a:endParaRPr lang="hr-HR" sz="2400" dirty="0"/>
                    </a:p>
                  </a:txBody>
                  <a:tcPr anchor="ctr"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741738474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C773CA5-1750-AB53-A727-208917544E8A}"/>
              </a:ext>
            </a:extLst>
          </p:cNvPr>
          <p:cNvSpPr txBox="1"/>
          <p:nvPr/>
        </p:nvSpPr>
        <p:spPr>
          <a:xfrm>
            <a:off x="2535474" y="5747155"/>
            <a:ext cx="71210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* isn’t test F1 score (shows score for the entire dataset)</a:t>
            </a:r>
            <a:endParaRPr lang="hr-HR" sz="2400" dirty="0"/>
          </a:p>
        </p:txBody>
      </p:sp>
    </p:spTree>
    <p:extLst>
      <p:ext uri="{BB962C8B-B14F-4D97-AF65-F5344CB8AC3E}">
        <p14:creationId xmlns:p14="http://schemas.microsoft.com/office/powerpoint/2010/main" val="6633300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1FFC6-64BB-C03A-47C4-410C039A9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F35A31-AB74-11C2-4FBF-95DD1D6CD6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311938" cy="1450757"/>
          </a:xfrm>
        </p:spPr>
        <p:txBody>
          <a:bodyPr/>
          <a:lstStyle/>
          <a:p>
            <a:r>
              <a:rPr lang="en-US" dirty="0"/>
              <a:t>Conclusion &amp; Future work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662F95-71D6-AC0A-0129-5A4A866DF8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F1 score for fine-tuned model (1:1 ratio, 1 epoch):</a:t>
            </a:r>
          </a:p>
          <a:p>
            <a:pPr lvl="2"/>
            <a:r>
              <a:rPr lang="en-US" sz="2400" dirty="0"/>
              <a:t>Train: 92.55%</a:t>
            </a:r>
          </a:p>
          <a:p>
            <a:pPr lvl="2"/>
            <a:r>
              <a:rPr lang="en-US" sz="2400" dirty="0"/>
              <a:t>Exhaustive, over-optimistic: </a:t>
            </a:r>
            <a:r>
              <a:rPr lang="hr-HR" sz="2400" dirty="0"/>
              <a:t>70.90</a:t>
            </a:r>
            <a:r>
              <a:rPr lang="en-US" sz="2400" dirty="0"/>
              <a:t>%</a:t>
            </a:r>
          </a:p>
          <a:p>
            <a:pPr lvl="2"/>
            <a:r>
              <a:rPr lang="en-US" sz="2400" b="1" dirty="0"/>
              <a:t>Exhaustive, test (cross-validated): 65.64%</a:t>
            </a:r>
            <a:br>
              <a:rPr lang="en-US" sz="2400" b="1" dirty="0"/>
            </a:br>
            <a:endParaRPr lang="en-US" sz="2400" dirty="0"/>
          </a:p>
          <a:p>
            <a:pPr marL="201168" lvl="1" indent="0">
              <a:buNone/>
            </a:pPr>
            <a:endParaRPr lang="en-US" sz="2400" dirty="0"/>
          </a:p>
          <a:p>
            <a:pPr lvl="1"/>
            <a:r>
              <a:rPr lang="en-US" sz="2400" dirty="0"/>
              <a:t>Explore and test options for reducing overfitting</a:t>
            </a:r>
          </a:p>
          <a:p>
            <a:pPr marL="201168" lvl="1" indent="0">
              <a:buNone/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AA7E2B-E69E-1EFF-CBEA-EB869331C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18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777090631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9CC26709-368C-4D72-9060-94E5B3FF3CD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591</TotalTime>
  <Words>826</Words>
  <Application>Microsoft Office PowerPoint</Application>
  <PresentationFormat>Widescreen</PresentationFormat>
  <Paragraphs>220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Aptos</vt:lpstr>
      <vt:lpstr>Calibri</vt:lpstr>
      <vt:lpstr>Calibri Light</vt:lpstr>
      <vt:lpstr>Retrospect</vt:lpstr>
      <vt:lpstr>School mapping in ESRI imagery</vt:lpstr>
      <vt:lpstr>Recap</vt:lpstr>
      <vt:lpstr>New validation datasets</vt:lpstr>
      <vt:lpstr>Exhaustive (narrow) dataset</vt:lpstr>
      <vt:lpstr>Wide dataset</vt:lpstr>
      <vt:lpstr>Threshold validation</vt:lpstr>
      <vt:lpstr>Threshold validation</vt:lpstr>
      <vt:lpstr>Threshold validation, results</vt:lpstr>
      <vt:lpstr>Potential problems</vt:lpstr>
      <vt:lpstr>New contributions</vt:lpstr>
      <vt:lpstr>4-fold threshold validation</vt:lpstr>
      <vt:lpstr>PowerPoint Presentation</vt:lpstr>
      <vt:lpstr>4-fold threshold validation, results</vt:lpstr>
      <vt:lpstr>Dense inference</vt:lpstr>
      <vt:lpstr>Dense inference, Anditi results (after NMS)</vt:lpstr>
      <vt:lpstr>Dense inference, wide results (after NMS)</vt:lpstr>
      <vt:lpstr>Progress comparison</vt:lpstr>
      <vt:lpstr>Conclusion &amp; Future work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Dominik Jambrovic</dc:creator>
  <cp:lastModifiedBy>Dominik Jambrovic</cp:lastModifiedBy>
  <cp:revision>47</cp:revision>
  <dcterms:created xsi:type="dcterms:W3CDTF">2024-10-22T16:37:25Z</dcterms:created>
  <dcterms:modified xsi:type="dcterms:W3CDTF">2025-02-26T21:28:55Z</dcterms:modified>
</cp:coreProperties>
</file>