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8"/>
  </p:notesMasterIdLst>
  <p:sldIdLst>
    <p:sldId id="256" r:id="rId2"/>
    <p:sldId id="258" r:id="rId3"/>
    <p:sldId id="304" r:id="rId4"/>
    <p:sldId id="305" r:id="rId5"/>
    <p:sldId id="306" r:id="rId6"/>
    <p:sldId id="307" r:id="rId7"/>
    <p:sldId id="316" r:id="rId8"/>
    <p:sldId id="317" r:id="rId9"/>
    <p:sldId id="318" r:id="rId10"/>
    <p:sldId id="297" r:id="rId11"/>
    <p:sldId id="319" r:id="rId12"/>
    <p:sldId id="320" r:id="rId13"/>
    <p:sldId id="321" r:id="rId14"/>
    <p:sldId id="298" r:id="rId15"/>
    <p:sldId id="302" r:id="rId16"/>
    <p:sldId id="31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26.2.2025.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26.2.2025.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February</a:t>
            </a:r>
            <a:r>
              <a:rPr lang="hr-HR" sz="2400" dirty="0"/>
              <a:t> </a:t>
            </a:r>
            <a:r>
              <a:rPr lang="en-US" sz="2400" dirty="0"/>
              <a:t>27th</a:t>
            </a:r>
            <a:r>
              <a:rPr lang="hr-HR" sz="2400" dirty="0"/>
              <a:t>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F5080-0FC4-286E-A439-F65A3627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9A6-810B-C651-B642-35FEC8CB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validation datasets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83042-BB2B-ED39-A052-0660EFBB9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have hand-collected two subsets of school locations:</a:t>
            </a:r>
          </a:p>
          <a:p>
            <a:pPr lvl="1"/>
            <a:endParaRPr lang="en-US" sz="2400" dirty="0"/>
          </a:p>
          <a:p>
            <a:pPr lvl="2"/>
            <a:r>
              <a:rPr lang="en-US" sz="2400" dirty="0"/>
              <a:t>Exhaustive dataset</a:t>
            </a:r>
          </a:p>
          <a:p>
            <a:pPr marL="384048" lvl="2" indent="0">
              <a:buNone/>
            </a:pPr>
            <a:endParaRPr lang="en-US" sz="2400" dirty="0"/>
          </a:p>
          <a:p>
            <a:pPr lvl="2"/>
            <a:r>
              <a:rPr lang="en-US" sz="2400" dirty="0"/>
              <a:t>Wide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evaluating the final fine-tuned model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6143-CE7C-BB7B-CC45-7CE5FA0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29299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C6BF8-2645-335B-179E-3A1A67F8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1A63-4CA0-F8D6-F3C1-1C5CFEEA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Exhaustive (narrow)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6317-CCF1-8129-8E73-AE7C125BA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lang="en-US" sz="2400" dirty="0"/>
              <a:t>Locations from 4 </a:t>
            </a:r>
            <a:r>
              <a:rPr lang="hr-HR" sz="2400" dirty="0"/>
              <a:t>subdistricts (wards) from </a:t>
            </a:r>
            <a:r>
              <a:rPr lang="it-IT" sz="2400" b="1" dirty="0"/>
              <a:t>Thủ Đức</a:t>
            </a:r>
            <a:r>
              <a:rPr lang="hr-HR" sz="2400" b="1" dirty="0"/>
              <a:t> District</a:t>
            </a:r>
            <a:r>
              <a:rPr lang="hr-HR" sz="2400" dirty="0"/>
              <a:t>:  </a:t>
            </a:r>
          </a:p>
          <a:p>
            <a:pPr lvl="2"/>
            <a:r>
              <a:rPr lang="hr-HR" sz="2400" dirty="0"/>
              <a:t>Linh Xuan Ward</a:t>
            </a:r>
          </a:p>
          <a:p>
            <a:pPr lvl="2"/>
            <a:r>
              <a:rPr lang="hr-HR" sz="2400" dirty="0"/>
              <a:t>Binh Chieu Ward</a:t>
            </a:r>
          </a:p>
          <a:p>
            <a:pPr lvl="2"/>
            <a:r>
              <a:rPr lang="hr-HR" sz="2400" dirty="0"/>
              <a:t>Tam Binh Ward</a:t>
            </a:r>
          </a:p>
          <a:p>
            <a:pPr lvl="2"/>
            <a:r>
              <a:rPr lang="hr-HR" sz="2400" dirty="0"/>
              <a:t>Hiep Binh Phuoc Ward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110 schools </a:t>
            </a:r>
            <a:r>
              <a:rPr lang="en-US" sz="2400" dirty="0"/>
              <a:t>(exhaustive search)</a:t>
            </a:r>
            <a:r>
              <a:rPr lang="hr-HR" sz="2400" dirty="0"/>
              <a:t>, </a:t>
            </a:r>
            <a:r>
              <a:rPr lang="en-US" sz="2400" b="1" dirty="0"/>
              <a:t>1163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precision, recall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23F7-199B-DB78-C203-AEE4CD83C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9214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F93E-E544-2553-22F8-8CF824196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75F1-9797-BDFA-2561-4EFFB925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FD016-FD43-6767-A8A2-868E180F4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Locations from 5 districts</a:t>
            </a:r>
            <a:r>
              <a:rPr lang="hr-HR" sz="2400" dirty="0"/>
              <a:t>:</a:t>
            </a:r>
          </a:p>
          <a:p>
            <a:pPr lvl="2"/>
            <a:r>
              <a:rPr lang="en-US" sz="2400" dirty="0"/>
              <a:t>Lê </a:t>
            </a:r>
            <a:r>
              <a:rPr lang="en-US" sz="2400" dirty="0" err="1"/>
              <a:t>Chân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/>
              <a:t>Hoài </a:t>
            </a:r>
            <a:r>
              <a:rPr lang="en-US" sz="2400" dirty="0" err="1"/>
              <a:t>Đức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 err="1"/>
              <a:t>Cà</a:t>
            </a:r>
            <a:r>
              <a:rPr lang="en-US" sz="2400" dirty="0"/>
              <a:t> Mau</a:t>
            </a:r>
          </a:p>
          <a:p>
            <a:pPr lvl="2"/>
            <a:r>
              <a:rPr lang="en-US" sz="2400" dirty="0" err="1"/>
              <a:t>Bà</a:t>
            </a:r>
            <a:r>
              <a:rPr lang="en-US" sz="2400" dirty="0"/>
              <a:t> </a:t>
            </a:r>
            <a:r>
              <a:rPr lang="en-US" sz="2400" dirty="0" err="1"/>
              <a:t>Rịa</a:t>
            </a:r>
            <a:endParaRPr lang="en-US" sz="2400" dirty="0"/>
          </a:p>
          <a:p>
            <a:pPr lvl="2"/>
            <a:r>
              <a:rPr lang="en-US" sz="2400" dirty="0" err="1"/>
              <a:t>Sóc</a:t>
            </a:r>
            <a:r>
              <a:rPr lang="en-US" sz="2400" dirty="0"/>
              <a:t> </a:t>
            </a:r>
            <a:r>
              <a:rPr lang="en-US" sz="2400" dirty="0" err="1"/>
              <a:t>Trăng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93 schools </a:t>
            </a:r>
            <a:r>
              <a:rPr lang="en-US" sz="2400" dirty="0"/>
              <a:t>(not exhaustive search!)</a:t>
            </a:r>
            <a:r>
              <a:rPr lang="hr-HR" sz="2400" dirty="0"/>
              <a:t>, </a:t>
            </a:r>
            <a:r>
              <a:rPr lang="en-US" sz="2400" b="1" dirty="0"/>
              <a:t>20 981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recall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B75F-135C-A7BC-6C35-8BE92C572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2597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BAA6-E551-BC82-95F6-C4FA4D6D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F797F-1ED1-34BE-0A0F-0D1EE829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8D91-42A2-DCBA-68FA-77F71E3A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want to determine the ideal classification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dense inference predictions for exhaustive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F1 score on predictions for </a:t>
            </a:r>
            <a:r>
              <a:rPr lang="en-US" sz="2400" b="1" dirty="0"/>
              <a:t>variable thresholds (0-1)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Pick threshold with the </a:t>
            </a:r>
            <a:r>
              <a:rPr lang="en-US" sz="2400" b="1" dirty="0"/>
              <a:t>highest F1 score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recall, precision and F1 score for chosen threshold on </a:t>
            </a:r>
            <a:r>
              <a:rPr lang="en-US" sz="2400" b="1" dirty="0"/>
              <a:t>exhaustive dataset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940A-0297-7717-4E28-6EE03B24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24364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A37-C72A-63F8-A589-7D597A632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EFEA-2516-F75F-43D8-AE40072D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2ABF-0779-DCEA-DDAA-B3B17DE21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>
            <a:noAutofit/>
          </a:bodyPr>
          <a:lstStyle/>
          <a:p>
            <a:pPr lvl="1"/>
            <a:r>
              <a:rPr lang="en-US" sz="2400" dirty="0"/>
              <a:t>Procedure is applied to multiple models with different fine-tune configurations (fine-tune on </a:t>
            </a:r>
            <a:r>
              <a:rPr lang="en-US" sz="2400" b="1" dirty="0" err="1"/>
              <a:t>Anditi</a:t>
            </a:r>
            <a:r>
              <a:rPr lang="en-US" sz="2400" b="1" dirty="0"/>
              <a:t> dataset </a:t>
            </a:r>
            <a:r>
              <a:rPr lang="en-US" sz="2400" dirty="0"/>
              <a:t>with non-schools sampled from </a:t>
            </a:r>
            <a:r>
              <a:rPr lang="en-US" sz="2400" b="1" dirty="0"/>
              <a:t>OSM Vietnam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Different number of </a:t>
            </a:r>
            <a:r>
              <a:rPr lang="en-US" sz="2400" b="1" dirty="0"/>
              <a:t>fine-tune epochs</a:t>
            </a:r>
            <a:r>
              <a:rPr lang="en-US" sz="2400" dirty="0"/>
              <a:t>:</a:t>
            </a:r>
          </a:p>
          <a:p>
            <a:pPr lvl="2"/>
            <a:r>
              <a:rPr lang="en-US" sz="2400" dirty="0"/>
              <a:t>1 epoch</a:t>
            </a:r>
          </a:p>
          <a:p>
            <a:pPr lvl="2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Dynamic Gaussian </a:t>
            </a:r>
            <a:r>
              <a:rPr lang="en-US" sz="2400" dirty="0"/>
              <a:t>non-school sampling with different school : non-school sampling ratios:</a:t>
            </a:r>
          </a:p>
          <a:p>
            <a:pPr lvl="2"/>
            <a:r>
              <a:rPr lang="en-US" sz="2400" dirty="0"/>
              <a:t>1:1</a:t>
            </a:r>
          </a:p>
          <a:p>
            <a:pPr lvl="2"/>
            <a:r>
              <a:rPr lang="en-US" sz="2400" dirty="0"/>
              <a:t>1:10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890E-8433-CECB-B45D-4EA4F324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72995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435-E7EF-A074-1792-F7E620060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5F402-0E7C-F258-F854-4891C701F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validation, results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B9C44-E66C-25B2-06F1-00CF4969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A471C1-E740-0DBB-1099-4BD83D1F7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04292"/>
              </p:ext>
            </p:extLst>
          </p:nvPr>
        </p:nvGraphicFramePr>
        <p:xfrm>
          <a:off x="1060632" y="1737360"/>
          <a:ext cx="10070736" cy="4573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45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Recall</a:t>
                      </a:r>
                    </a:p>
                    <a:p>
                      <a:pPr algn="ctr"/>
                      <a:r>
                        <a:rPr lang="en-US" sz="2400" dirty="0"/>
                        <a:t>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61.85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97.27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45.34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4.04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63.70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51.10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8.35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70.90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96.36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56.08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69.14</a:t>
                      </a:r>
                      <a:endParaRPr lang="hr-HR" sz="2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63.16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353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4B6F-A67D-47F8-0AC9-D5A6D9EDF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EF5EB-E821-11D7-3A1D-5FBA3FA7E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56BF6-AA3A-0C0C-CF29-C1DE7A3C1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Precision, recall and F1 score calculated on the data used for obtaining the best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Potential </a:t>
            </a:r>
            <a:r>
              <a:rPr lang="en-US" sz="2400" b="1" dirty="0"/>
              <a:t>data leakage </a:t>
            </a:r>
            <a:r>
              <a:rPr lang="en-US" sz="2400" dirty="0"/>
              <a:t>and</a:t>
            </a:r>
            <a:r>
              <a:rPr lang="en-US" sz="2400" b="1" dirty="0"/>
              <a:t> biased results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It would be better if we could choose the </a:t>
            </a:r>
            <a:r>
              <a:rPr lang="en-US" sz="2400" b="1" dirty="0"/>
              <a:t>best threshold based on one subset </a:t>
            </a:r>
            <a:r>
              <a:rPr lang="en-US" sz="2400" dirty="0"/>
              <a:t>and then evaluate the model’s performance </a:t>
            </a:r>
            <a:r>
              <a:rPr lang="en-US" sz="2400"/>
              <a:t>with the chosen </a:t>
            </a:r>
            <a:r>
              <a:rPr lang="en-US" sz="2400" dirty="0"/>
              <a:t>threshold on a second subset (test set)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We could use a </a:t>
            </a:r>
            <a:r>
              <a:rPr lang="en-US" sz="2400" b="1" dirty="0"/>
              <a:t>baseline</a:t>
            </a:r>
            <a:r>
              <a:rPr lang="en-US" sz="2400" dirty="0"/>
              <a:t> (model with no fine-tuning)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C5713-A77B-C7BF-84FB-7204F5022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68380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C4C-ADFA-E377-A608-96ED92F2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New contributions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EDB9-7240-C743-A2C6-0614DD31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3264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AD91C-1C6E-90D3-F571-66DB4210A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9BAF-35BE-BE66-5317-AE0AD8BCE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69580-0408-36F5-9473-F0E114DF5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Split </a:t>
            </a:r>
            <a:r>
              <a:rPr lang="en-US" sz="2400" b="1" dirty="0"/>
              <a:t>exhaustive dataset </a:t>
            </a:r>
            <a:r>
              <a:rPr lang="en-US" sz="2400" dirty="0"/>
              <a:t>into </a:t>
            </a:r>
            <a:r>
              <a:rPr lang="en-US" sz="2400" b="1" dirty="0"/>
              <a:t>4 folds </a:t>
            </a:r>
            <a:r>
              <a:rPr lang="en-US" sz="2400" dirty="0"/>
              <a:t>(each ward equals 1 fold) 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For each fold:</a:t>
            </a:r>
          </a:p>
          <a:p>
            <a:pPr lvl="2"/>
            <a:r>
              <a:rPr lang="en-US" sz="2400" dirty="0"/>
              <a:t>Find the best threshold (based on F1 score for the fold)</a:t>
            </a:r>
          </a:p>
          <a:p>
            <a:pPr lvl="2"/>
            <a:r>
              <a:rPr lang="en-US" sz="2400" dirty="0"/>
              <a:t>Calculate precision, recall and F1 score on the other 3 folds (merged into one dataset)</a:t>
            </a:r>
          </a:p>
          <a:p>
            <a:pPr lvl="2"/>
            <a:endParaRPr lang="en-US" sz="2400" dirty="0"/>
          </a:p>
          <a:p>
            <a:pPr lvl="1"/>
            <a:r>
              <a:rPr lang="en-US" sz="2400" dirty="0"/>
              <a:t>Best threshold decision and metrics calculation are </a:t>
            </a:r>
            <a:r>
              <a:rPr lang="en-US" sz="2400" b="1" dirty="0"/>
              <a:t>not based on the same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Finally, calculate the mean, as well as the standard deviation for the metrics</a:t>
            </a:r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6F620-15B9-0FF0-F2E6-284D99F3A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16977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DF853-62DC-BEAC-B8E7-AD15A4FDD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9E59A-5160-3F1D-4EED-3E04102E9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410CFD-403C-9B38-960E-FD7F26005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378325"/>
              </p:ext>
            </p:extLst>
          </p:nvPr>
        </p:nvGraphicFramePr>
        <p:xfrm>
          <a:off x="412750" y="597105"/>
          <a:ext cx="11366500" cy="5419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45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2079050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872343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Recall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39.31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25.61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62.40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5.73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0" dirty="0"/>
                        <a:t>60.14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0" dirty="0"/>
                        <a:t> 15.50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69.99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8.53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0123828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7.55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6.11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51.98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65.79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23.49</a:t>
                      </a:r>
                      <a:endParaRPr lang="hr-HR" sz="2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49.65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12.26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3.96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0.11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59.53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3.81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85.22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1" dirty="0"/>
                        <a:t> 13.28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46.28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2.16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18.94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65.64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4.12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78.49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58.72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7.47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12.29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10.17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59.17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8.58</a:t>
                      </a:r>
                      <a:endParaRPr lang="hr-HR" sz="2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62.51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21.63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67.51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16.37</a:t>
                      </a:r>
                      <a:endParaRPr lang="hr-HR" sz="2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652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D83E4-1BAE-01F8-DF4A-27D01FFA1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C740-88A9-2413-930E-27D8E291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validation, results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1B61D-A654-4EB2-22B2-739A94E03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Based on F1 score, we choose the </a:t>
            </a:r>
            <a:r>
              <a:rPr lang="en-US" sz="2400" b="1" dirty="0"/>
              <a:t>model fine-tuned for 1 epoch with 1:1 school : non-school sampling ratio </a:t>
            </a:r>
            <a:r>
              <a:rPr lang="en-US" sz="2400" dirty="0"/>
              <a:t>as the best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dense inference, we use the threshold obtained from threshold validation (</a:t>
            </a:r>
            <a:r>
              <a:rPr lang="hr-HR" sz="2400" b="1" dirty="0"/>
              <a:t>8.35</a:t>
            </a:r>
            <a:r>
              <a:rPr lang="en-US" sz="2400" b="1" dirty="0"/>
              <a:t>%</a:t>
            </a:r>
            <a:r>
              <a:rPr lang="en-US" sz="2400" dirty="0"/>
              <a:t>)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6172F-0D3F-E9C8-EC1C-06F6A304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01351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4D12-15AF-C83D-53E5-764C158E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9DA01-6CB6-94B5-8278-256D8420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</a:t>
            </a:r>
            <a:r>
              <a:rPr lang="hr-HR" sz="2400" dirty="0"/>
              <a:t> </a:t>
            </a:r>
            <a:r>
              <a:rPr lang="en-US" sz="2400" dirty="0"/>
              <a:t>fine-tuned model on </a:t>
            </a:r>
            <a:r>
              <a:rPr lang="en-US" sz="2400" b="1" dirty="0"/>
              <a:t>overlapping satellite images</a:t>
            </a:r>
            <a:r>
              <a:rPr lang="en-US" sz="2400" dirty="0"/>
              <a:t> (tiles) from chosen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Perform non-maximum suppression (</a:t>
            </a:r>
            <a:r>
              <a:rPr lang="en-US" sz="2400" b="1" dirty="0"/>
              <a:t>NMS</a:t>
            </a:r>
            <a:r>
              <a:rPr lang="en-US" sz="2400" dirty="0"/>
              <a:t>) to reduce the number of duplicate detections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number of detected </a:t>
            </a:r>
            <a:r>
              <a:rPr lang="en-US" sz="2400" b="1" dirty="0" err="1"/>
              <a:t>Anditi</a:t>
            </a:r>
            <a:r>
              <a:rPr lang="en-US" sz="2400" b="1" dirty="0"/>
              <a:t> schools (train data)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Deliver </a:t>
            </a:r>
            <a:r>
              <a:rPr lang="en-US" sz="2400" b="1" dirty="0"/>
              <a:t>list of potential schools </a:t>
            </a:r>
            <a:r>
              <a:rPr lang="en-US" sz="2400" dirty="0"/>
              <a:t>sorted by prediction confidence</a:t>
            </a:r>
            <a:endParaRPr lang="hr-HR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B7E46-84AA-C294-3543-BD508C49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1287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85115-DDD2-59BA-D33F-73DBC17A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08D2-A053-BA4C-122A-0FAC6FFCA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2799-A9B7-C71D-C7A2-FA6AEE1D2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hr-HR" sz="2400" b="1" dirty="0"/>
              <a:t>train data (Anditi schools) </a:t>
            </a:r>
            <a:r>
              <a:rPr lang="hr-HR" sz="2400" dirty="0"/>
              <a:t>–</a:t>
            </a:r>
            <a:r>
              <a:rPr lang="en-US" sz="2400" dirty="0"/>
              <a:t> sanity check</a:t>
            </a:r>
          </a:p>
          <a:p>
            <a:pPr marL="201168" lvl="1" indent="0">
              <a:buNone/>
            </a:pPr>
            <a:endParaRPr lang="hr-HR" sz="2400" dirty="0"/>
          </a:p>
          <a:p>
            <a:pPr lvl="1"/>
            <a:r>
              <a:rPr lang="en-US" sz="2400" dirty="0"/>
              <a:t>Found 900/946 (</a:t>
            </a:r>
            <a:r>
              <a:rPr lang="en-US" sz="2400" b="1" dirty="0"/>
              <a:t>95.14%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 err="1"/>
              <a:t>Anditi</a:t>
            </a:r>
            <a:r>
              <a:rPr lang="en-US" sz="2400" dirty="0"/>
              <a:t>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95.14%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46 not detected schools (</a:t>
            </a:r>
            <a:r>
              <a:rPr lang="en-US" sz="2400" b="1" dirty="0"/>
              <a:t>4.86%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List of potential schools: </a:t>
            </a:r>
            <a:r>
              <a:rPr lang="en-US" sz="2400" b="1" dirty="0"/>
              <a:t>9573 images 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7BBB-1A02-75C1-AC3F-7D66D9FB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3098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F1 score for fine-tuned model (1:1 ratio, 1 epoch):</a:t>
            </a:r>
          </a:p>
          <a:p>
            <a:pPr lvl="2"/>
            <a:r>
              <a:rPr lang="en-US" sz="2400" dirty="0"/>
              <a:t>Train: 92.55%</a:t>
            </a:r>
          </a:p>
          <a:p>
            <a:pPr lvl="2"/>
            <a:r>
              <a:rPr lang="en-US" sz="2400" b="1" dirty="0"/>
              <a:t>Exhaustive: </a:t>
            </a:r>
            <a:r>
              <a:rPr lang="hr-HR" sz="2400" b="1" dirty="0"/>
              <a:t>70.90</a:t>
            </a:r>
            <a:r>
              <a:rPr lang="en-US" sz="2400" b="1" dirty="0"/>
              <a:t>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Fine-tuning for 20 epochs may overfit the nation-wide model to </a:t>
            </a:r>
            <a:r>
              <a:rPr lang="en-US" sz="2400" dirty="0" err="1"/>
              <a:t>Anditi</a:t>
            </a:r>
            <a:r>
              <a:rPr lang="en-US" sz="2400" dirty="0"/>
              <a:t>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Explore and test options for reducing overfitting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519</TotalTime>
  <Words>719</Words>
  <Application>Microsoft Office PowerPoint</Application>
  <PresentationFormat>Widescreen</PresentationFormat>
  <Paragraphs>188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Calibri</vt:lpstr>
      <vt:lpstr>Calibri Light</vt:lpstr>
      <vt:lpstr>Retrospect</vt:lpstr>
      <vt:lpstr>School mapping in ESRI imagery</vt:lpstr>
      <vt:lpstr>Recap</vt:lpstr>
      <vt:lpstr>New validation datasets</vt:lpstr>
      <vt:lpstr>Exhaustive (narrow) dataset</vt:lpstr>
      <vt:lpstr>Wide dataset</vt:lpstr>
      <vt:lpstr>Threshold validation</vt:lpstr>
      <vt:lpstr>Threshold validation</vt:lpstr>
      <vt:lpstr>Threshold validation, results</vt:lpstr>
      <vt:lpstr>Potential problems</vt:lpstr>
      <vt:lpstr>New contributions</vt:lpstr>
      <vt:lpstr>4-fold threshold validation</vt:lpstr>
      <vt:lpstr>PowerPoint Presentation</vt:lpstr>
      <vt:lpstr>4-fold threshold validation, results</vt:lpstr>
      <vt:lpstr>Dense inference</vt:lpstr>
      <vt:lpstr>Dense inference results (after NMS)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36</cp:revision>
  <dcterms:created xsi:type="dcterms:W3CDTF">2024-10-22T16:37:25Z</dcterms:created>
  <dcterms:modified xsi:type="dcterms:W3CDTF">2025-02-25T23:52:01Z</dcterms:modified>
</cp:coreProperties>
</file>