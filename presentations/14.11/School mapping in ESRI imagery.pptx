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8"/>
  </p:notesMasterIdLst>
  <p:sldIdLst>
    <p:sldId id="256" r:id="rId2"/>
    <p:sldId id="258" r:id="rId3"/>
    <p:sldId id="264" r:id="rId4"/>
    <p:sldId id="265" r:id="rId5"/>
    <p:sldId id="266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4" r:id="rId17"/>
    <p:sldId id="285" r:id="rId18"/>
    <p:sldId id="286" r:id="rId19"/>
    <p:sldId id="287" r:id="rId20"/>
    <p:sldId id="288" r:id="rId21"/>
    <p:sldId id="283" r:id="rId22"/>
    <p:sldId id="289" r:id="rId23"/>
    <p:sldId id="290" r:id="rId24"/>
    <p:sldId id="293" r:id="rId25"/>
    <p:sldId id="294" r:id="rId26"/>
    <p:sldId id="27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01"/>
    <a:srgbClr val="FFE601"/>
    <a:srgbClr val="F5EF00"/>
    <a:srgbClr val="FF0000"/>
    <a:srgbClr val="0F00FC"/>
    <a:srgbClr val="00FF06"/>
    <a:srgbClr val="00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B7F9E-A1C3-49A9-9E10-41E48F42B6EF}" type="datetimeFigureOut">
              <a:rPr lang="hr-HR" smtClean="0"/>
              <a:t>12.11.2024.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AADC4-D7B5-450A-9EF8-CC02CD33819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658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2798-267A-4A65-B728-860D168520E9}" type="datetime1">
              <a:rPr lang="hr-HR" smtClean="0"/>
              <a:t>12.11.2024.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952B-35CB-45F4-B445-93E96AE6AA9A}" type="datetime1">
              <a:rPr lang="hr-HR" smtClean="0"/>
              <a:t>12.11.2024.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544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6C6A-72C5-452A-B645-74DCDF4F800D}" type="datetime1">
              <a:rPr lang="hr-HR" smtClean="0"/>
              <a:t>12.11.2024.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5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6E91-FFF8-4AB3-8240-55376CB7D14E}" type="datetime1">
              <a:rPr lang="hr-HR" smtClean="0"/>
              <a:t>12.11.2024.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812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5B90-9CB0-4409-89A2-DA39566333B9}" type="datetime1">
              <a:rPr lang="hr-HR" smtClean="0"/>
              <a:t>12.11.2024.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437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C004-70F7-4C97-9947-702C175B2047}" type="datetime1">
              <a:rPr lang="hr-HR" smtClean="0"/>
              <a:t>12.11.2024.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81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105-24BD-4206-BE09-6051D8DF5A30}" type="datetime1">
              <a:rPr lang="hr-HR" smtClean="0"/>
              <a:t>12.11.2024.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911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A9D767-858F-4EC9-ADD3-529928E56913}" type="datetime1">
              <a:rPr lang="hr-HR" smtClean="0"/>
              <a:t>12.11.2024.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220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151D8-37D8-4141-AE5C-976E3A606B5B}" type="datetime1">
              <a:rPr lang="hr-HR" smtClean="0"/>
              <a:t>12.11.2024.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0347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7ED3-79A9-4245-8F0F-F984ABC9CDC0}" type="datetime1">
              <a:rPr lang="hr-HR" smtClean="0"/>
              <a:t>12.11.2024.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1794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31ACD-5387-45BD-B548-1DCDFB961638}" type="datetime1">
              <a:rPr lang="hr-HR" smtClean="0"/>
              <a:t>12.11.2024.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178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FF488-27A0-4035-9B9A-B8D9554714E0}" type="datetime1">
              <a:rPr lang="hr-HR" smtClean="0"/>
              <a:t>12.11.2024.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90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FF00-34E4-F05B-4CF2-0A8B5E00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mapping in ESRI imagery</a:t>
            </a:r>
            <a:endParaRPr lang="hr-H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55326-AF42-6735-8CB8-9009BE9D7A18}"/>
              </a:ext>
            </a:extLst>
          </p:cNvPr>
          <p:cNvSpPr txBox="1">
            <a:spLocks/>
          </p:cNvSpPr>
          <p:nvPr/>
        </p:nvSpPr>
        <p:spPr>
          <a:xfrm>
            <a:off x="1097280" y="4325112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Andrija </a:t>
            </a:r>
            <a:r>
              <a:rPr lang="en-US" sz="2800" dirty="0" err="1"/>
              <a:t>Gorup</a:t>
            </a:r>
            <a:r>
              <a:rPr lang="en-US" sz="2800" dirty="0"/>
              <a:t>, Dominik </a:t>
            </a:r>
            <a:r>
              <a:rPr lang="en-US" sz="2800" dirty="0" err="1"/>
              <a:t>Jambrovi</a:t>
            </a:r>
            <a:r>
              <a:rPr lang="hr-HR" sz="2800" dirty="0"/>
              <a:t>ć, Marin Kačan, Siniša Šegvić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AEFF77-6818-7F14-D523-83B7CA729C24}"/>
              </a:ext>
            </a:extLst>
          </p:cNvPr>
          <p:cNvSpPr txBox="1">
            <a:spLocks/>
          </p:cNvSpPr>
          <p:nvPr/>
        </p:nvSpPr>
        <p:spPr>
          <a:xfrm>
            <a:off x="1097280" y="5340096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November</a:t>
            </a:r>
            <a:r>
              <a:rPr lang="hr-HR" sz="2400" dirty="0"/>
              <a:t> </a:t>
            </a:r>
            <a:r>
              <a:rPr lang="en-US" sz="2400" dirty="0"/>
              <a:t>14</a:t>
            </a:r>
            <a:r>
              <a:rPr lang="hr-HR" sz="2400" dirty="0"/>
              <a:t>th, 2024</a:t>
            </a:r>
          </a:p>
        </p:txBody>
      </p:sp>
    </p:spTree>
    <p:extLst>
      <p:ext uri="{BB962C8B-B14F-4D97-AF65-F5344CB8AC3E}">
        <p14:creationId xmlns:p14="http://schemas.microsoft.com/office/powerpoint/2010/main" val="10112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A271-1EFB-E664-0007-BB69468B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last meeting</a:t>
            </a:r>
            <a:endParaRPr lang="hr-H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39E99-CCEB-B045-9B67-6CBBE019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4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C444-8CC4-0E80-3D2D-D5EC28A4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F0740-0D14-E12E-7AD0-417BC6EC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Previously:</a:t>
            </a:r>
          </a:p>
          <a:p>
            <a:pPr lvl="2"/>
            <a:r>
              <a:rPr lang="en-US" sz="2000" dirty="0"/>
              <a:t>Non-schools sampled throughout Vietnam</a:t>
            </a:r>
          </a:p>
          <a:p>
            <a:pPr lvl="2"/>
            <a:r>
              <a:rPr lang="en-US" sz="2000" dirty="0"/>
              <a:t>Non-schools have no connection to the splits’ schools</a:t>
            </a:r>
          </a:p>
          <a:p>
            <a:pPr marL="384048" lvl="2" indent="0">
              <a:buNone/>
            </a:pPr>
            <a:endParaRPr lang="en-US" sz="2000" dirty="0"/>
          </a:p>
          <a:p>
            <a:pPr lvl="1"/>
            <a:r>
              <a:rPr lang="en-US" sz="2400" b="1" dirty="0"/>
              <a:t>Distance-based non-school sampling</a:t>
            </a:r>
          </a:p>
          <a:p>
            <a:pPr lvl="2"/>
            <a:r>
              <a:rPr lang="en-US" sz="2000" dirty="0"/>
              <a:t>Sample non-schools based on distance from schools</a:t>
            </a:r>
          </a:p>
          <a:p>
            <a:pPr lvl="2"/>
            <a:r>
              <a:rPr lang="en-US" sz="2000" b="1" dirty="0"/>
              <a:t>Goal: </a:t>
            </a:r>
            <a:r>
              <a:rPr lang="en-US" sz="2000" dirty="0"/>
              <a:t>train model only on non-school images geographically close to corresponding school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1306B-8766-C16E-9C10-BAC37545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0140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55EE-26EE-09A1-515C-82C270BB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9BD3-B34D-0086-4363-07ACF9CB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512B3-F9B1-7D41-779B-C036C8E5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Schools are split into two clusters</a:t>
            </a:r>
          </a:p>
          <a:p>
            <a:pPr lvl="1"/>
            <a:r>
              <a:rPr lang="en-US" sz="2400" dirty="0"/>
              <a:t>For each cluster, calculate the corresponding </a:t>
            </a:r>
            <a:r>
              <a:rPr lang="en-US" sz="2400" b="1" dirty="0"/>
              <a:t>centroid</a:t>
            </a:r>
            <a:r>
              <a:rPr lang="en-US" sz="2400" dirty="0"/>
              <a:t>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For each non-school (OSM Vietnam data), calculate the </a:t>
            </a:r>
            <a:r>
              <a:rPr lang="en-US" sz="2400" b="1" dirty="0"/>
              <a:t>Euclidean distance from both centroids</a:t>
            </a:r>
          </a:p>
          <a:p>
            <a:pPr marL="201168" lvl="1" indent="0">
              <a:buNone/>
            </a:pPr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ADDF3-7753-3328-6105-3C475593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153" y="4673267"/>
            <a:ext cx="6039693" cy="6287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2FAC5-A454-4187-1D02-A50EAE400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7114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69D2-08FD-53D9-6CA0-6C11E13D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06FA-3AD3-8DCE-CBB0-5BCEE308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3196-9005-0BA2-528E-B0F1BEF24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Convert distances to </a:t>
            </a:r>
            <a:r>
              <a:rPr lang="en-US" sz="2400" b="1" dirty="0"/>
              <a:t>probabilities of sampling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Sample non-schools for each cluster individually (</a:t>
            </a:r>
            <a:r>
              <a:rPr lang="en-US" sz="2400" b="1" dirty="0"/>
              <a:t>no repetition</a:t>
            </a:r>
            <a:r>
              <a:rPr lang="en-US" sz="2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FE446E-EADF-AAC8-C686-ACC5B82D031E}"/>
                  </a:ext>
                </a:extLst>
              </p:cNvPr>
              <p:cNvSpPr txBox="1"/>
              <p:nvPr/>
            </p:nvSpPr>
            <p:spPr>
              <a:xfrm>
                <a:off x="3733241" y="2836787"/>
                <a:ext cx="4725517" cy="59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sz="2400" dirty="0"/>
                  <a:t>   ,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∗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</m:sup>
                    </m:sSup>
                  </m:oMath>
                </a14:m>
                <a:endParaRPr lang="hr-H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FE446E-EADF-AAC8-C686-ACC5B82D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241" y="2836787"/>
                <a:ext cx="4725517" cy="592213"/>
              </a:xfrm>
              <a:prstGeom prst="rect">
                <a:avLst/>
              </a:prstGeom>
              <a:blipFill>
                <a:blip r:embed="rId2"/>
                <a:stretch>
                  <a:fillRect t="-2041" b="-6122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67F5E-309B-A94F-2E2C-444685B7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3417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A33FC-3F3C-B595-E415-8BC6C921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B32B-3628-5D55-A4A0-F7E3FAE6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non-school sampling</a:t>
            </a:r>
            <a:endParaRPr lang="hr-H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2841F-A1E7-DA44-64A2-D1F832D8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6</a:t>
            </a:fld>
            <a:endParaRPr lang="hr-HR"/>
          </a:p>
        </p:txBody>
      </p:sp>
      <p:pic>
        <p:nvPicPr>
          <p:cNvPr id="6" name="Picture 5" descr="A map of land with green dots&#10;&#10;Description automatically generated">
            <a:extLst>
              <a:ext uri="{FF2B5EF4-FFF2-40B4-BE49-F238E27FC236}">
                <a16:creationId xmlns:a16="http://schemas.microsoft.com/office/drawing/2014/main" id="{565AAC82-8AFA-F7E2-CE7A-74E44FC7D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651461" y="1893506"/>
            <a:ext cx="3398522" cy="3511365"/>
          </a:xfrm>
          <a:prstGeom prst="rect">
            <a:avLst/>
          </a:prstGeom>
        </p:spPr>
      </p:pic>
      <p:pic>
        <p:nvPicPr>
          <p:cNvPr id="7" name="Picture 6" descr="A map of land with green dots&#10;&#10;Description automatically generated">
            <a:extLst>
              <a:ext uri="{FF2B5EF4-FFF2-40B4-BE49-F238E27FC236}">
                <a16:creationId xmlns:a16="http://schemas.microsoft.com/office/drawing/2014/main" id="{33903E9B-8FD2-51F7-D82B-52FAC66DF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3"/>
          <a:stretch/>
        </p:blipFill>
        <p:spPr>
          <a:xfrm>
            <a:off x="7142017" y="1893001"/>
            <a:ext cx="3398522" cy="35118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86D6AE-715C-BED2-E9C8-C8881DDAD355}"/>
              </a:ext>
            </a:extLst>
          </p:cNvPr>
          <p:cNvSpPr txBox="1"/>
          <p:nvPr/>
        </p:nvSpPr>
        <p:spPr>
          <a:xfrm>
            <a:off x="1886881" y="5560512"/>
            <a:ext cx="306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South School Cluster</a:t>
            </a:r>
          </a:p>
          <a:p>
            <a:r>
              <a:rPr lang="en-US" dirty="0"/>
              <a:t> -  South Sampled Non-Schools</a:t>
            </a:r>
            <a:endParaRPr lang="hr-H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BB05B-32F1-A17A-87CC-64AE2D3D793B}"/>
              </a:ext>
            </a:extLst>
          </p:cNvPr>
          <p:cNvSpPr txBox="1"/>
          <p:nvPr/>
        </p:nvSpPr>
        <p:spPr>
          <a:xfrm>
            <a:off x="7423265" y="5560512"/>
            <a:ext cx="306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North School Cluster</a:t>
            </a:r>
          </a:p>
          <a:p>
            <a:r>
              <a:rPr lang="en-US" dirty="0"/>
              <a:t> -  North Sampled Non-Schools</a:t>
            </a:r>
            <a:endParaRPr lang="hr-H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213DDF-5B97-07B2-A31B-4308F363F99E}"/>
              </a:ext>
            </a:extLst>
          </p:cNvPr>
          <p:cNvSpPr/>
          <p:nvPr/>
        </p:nvSpPr>
        <p:spPr>
          <a:xfrm>
            <a:off x="1706881" y="5666004"/>
            <a:ext cx="18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7EF5D9-C46F-9A40-C755-87A736F6E217}"/>
              </a:ext>
            </a:extLst>
          </p:cNvPr>
          <p:cNvSpPr/>
          <p:nvPr/>
        </p:nvSpPr>
        <p:spPr>
          <a:xfrm>
            <a:off x="1706881" y="5912150"/>
            <a:ext cx="180000" cy="180000"/>
          </a:xfrm>
          <a:prstGeom prst="rect">
            <a:avLst/>
          </a:prstGeom>
          <a:solidFill>
            <a:srgbClr val="F5E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F02B4-0E9B-B7EA-5D4F-D30299740432}"/>
              </a:ext>
            </a:extLst>
          </p:cNvPr>
          <p:cNvSpPr/>
          <p:nvPr/>
        </p:nvSpPr>
        <p:spPr>
          <a:xfrm>
            <a:off x="7243265" y="5666509"/>
            <a:ext cx="180000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959A6-F63B-B9C6-DAE5-FB1B0362A864}"/>
              </a:ext>
            </a:extLst>
          </p:cNvPr>
          <p:cNvSpPr/>
          <p:nvPr/>
        </p:nvSpPr>
        <p:spPr>
          <a:xfrm>
            <a:off x="7243265" y="5912655"/>
            <a:ext cx="180000" cy="180000"/>
          </a:xfrm>
          <a:prstGeom prst="rect">
            <a:avLst/>
          </a:prstGeom>
          <a:solidFill>
            <a:srgbClr val="00FF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7462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F9E8-0610-A2D9-9F1B-A43A3DD9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0D6D-ED5B-F2D1-69C6-145C6C4FD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Random non-school sampling</a:t>
            </a:r>
          </a:p>
          <a:p>
            <a:pPr lvl="2"/>
            <a:r>
              <a:rPr lang="en-US" sz="2000" b="1" dirty="0"/>
              <a:t>F1: 81.55%</a:t>
            </a:r>
          </a:p>
          <a:p>
            <a:pPr lvl="2"/>
            <a:r>
              <a:rPr lang="en-US" sz="2000" dirty="0"/>
              <a:t>P: 95.94%</a:t>
            </a:r>
          </a:p>
          <a:p>
            <a:pPr lvl="2"/>
            <a:r>
              <a:rPr lang="en-US" sz="2000" dirty="0"/>
              <a:t>R: 73.97%</a:t>
            </a:r>
          </a:p>
          <a:p>
            <a:pPr lvl="1"/>
            <a:r>
              <a:rPr lang="en-US" sz="2400" dirty="0"/>
              <a:t>Inverse non-school sampling</a:t>
            </a:r>
          </a:p>
          <a:p>
            <a:pPr lvl="2"/>
            <a:r>
              <a:rPr lang="en-US" sz="2000" b="1" dirty="0"/>
              <a:t>F1: 89.03%</a:t>
            </a:r>
          </a:p>
          <a:p>
            <a:pPr lvl="2"/>
            <a:r>
              <a:rPr lang="en-US" sz="2000" dirty="0"/>
              <a:t>P: 97.38%</a:t>
            </a:r>
          </a:p>
          <a:p>
            <a:pPr lvl="2"/>
            <a:r>
              <a:rPr lang="en-US" sz="2000" dirty="0"/>
              <a:t>R: 82.53%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F7480-9106-7142-531E-A47992A9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7243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9869-8B40-80C4-5D59-D7226BE15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 contributions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7805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9C4A-5570-8969-7F4E-6D2B97F0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EB0B-7221-3117-57C0-3CDFBADC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62998-DBFE-5115-7233-902F60926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Schools are split into two clusters</a:t>
            </a:r>
          </a:p>
          <a:p>
            <a:pPr lvl="1"/>
            <a:r>
              <a:rPr lang="en-US" sz="2400" dirty="0"/>
              <a:t>For each cluster, calculate the corresponding </a:t>
            </a:r>
            <a:r>
              <a:rPr lang="en-US" sz="2400" b="1" dirty="0"/>
              <a:t>centroid</a:t>
            </a:r>
            <a:r>
              <a:rPr lang="en-US" sz="2400" dirty="0"/>
              <a:t> </a:t>
            </a:r>
            <a:r>
              <a:rPr lang="en-US" sz="2400" b="1" dirty="0"/>
              <a:t>and variance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For each non-school (OSM Vietnam data), calculate the </a:t>
            </a:r>
            <a:r>
              <a:rPr lang="en-US" sz="2400" b="1" dirty="0"/>
              <a:t>probability of belonging to a bivariate Gaussian distribution</a:t>
            </a:r>
            <a:r>
              <a:rPr lang="en-US" sz="2400" dirty="0"/>
              <a:t> defined by its corresponding centroid and covariance matrix</a:t>
            </a:r>
          </a:p>
          <a:p>
            <a:pPr marL="201168" lvl="1" indent="0">
              <a:buNone/>
            </a:pPr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5C44A-C9B6-00DB-292F-311530E0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9</a:t>
            </a:fld>
            <a:endParaRPr lang="hr-H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2E6CC-A192-7170-C1A5-A74793391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41" y="4516355"/>
            <a:ext cx="1059327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3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BAF3-74CA-FBA5-88C4-495591E0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FD66-3B8D-2C36-3D9D-540CCA9E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66B20-CDC1-A57A-8F66-11A879C42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Use probabilities (normalized bivariate Gaussian PDF) as </a:t>
            </a:r>
            <a:r>
              <a:rPr lang="en-US" sz="2400" b="1" dirty="0"/>
              <a:t>probabilities of sampling</a:t>
            </a:r>
          </a:p>
          <a:p>
            <a:pPr marL="201168" lvl="1" indent="0">
              <a:buNone/>
            </a:pPr>
            <a:endParaRPr lang="en-US" sz="2400" dirty="0"/>
          </a:p>
          <a:p>
            <a:pPr lvl="1"/>
            <a:r>
              <a:rPr lang="en-US" sz="2400" dirty="0"/>
              <a:t>Sample non-schools for each cluster individually (</a:t>
            </a:r>
            <a:r>
              <a:rPr lang="en-US" sz="2400" b="1" dirty="0"/>
              <a:t>no repetition</a:t>
            </a:r>
            <a:r>
              <a:rPr lang="en-US" sz="24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81B14-2C57-ABB9-E45B-236195EF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211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0D403-2FBA-551F-CDF5-1BC4BD71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5DE2-B349-3BD7-2832-712C6D1F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non-school sampling</a:t>
            </a:r>
            <a:endParaRPr lang="hr-H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C5D00-DA12-1514-0BC0-B4B421BF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11</a:t>
            </a:fld>
            <a:endParaRPr lang="hr-H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DA227-312F-8BA6-4409-30CD92947BAC}"/>
              </a:ext>
            </a:extLst>
          </p:cNvPr>
          <p:cNvSpPr txBox="1"/>
          <p:nvPr/>
        </p:nvSpPr>
        <p:spPr>
          <a:xfrm>
            <a:off x="1886881" y="5560512"/>
            <a:ext cx="306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School Cluster</a:t>
            </a:r>
          </a:p>
          <a:p>
            <a:r>
              <a:rPr lang="en-US" dirty="0"/>
              <a:t> -  South Sampled Non-Schools</a:t>
            </a:r>
            <a:endParaRPr lang="hr-H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1202B-5199-23E9-742F-149C5F91E08B}"/>
              </a:ext>
            </a:extLst>
          </p:cNvPr>
          <p:cNvSpPr txBox="1"/>
          <p:nvPr/>
        </p:nvSpPr>
        <p:spPr>
          <a:xfrm>
            <a:off x="7423265" y="5560512"/>
            <a:ext cx="306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School Cluster</a:t>
            </a:r>
          </a:p>
          <a:p>
            <a:r>
              <a:rPr lang="en-US" dirty="0"/>
              <a:t> -  North Sampled Non-Schools</a:t>
            </a:r>
            <a:endParaRPr lang="hr-H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EAFAE-8194-EA18-667F-70BD5D211B75}"/>
              </a:ext>
            </a:extLst>
          </p:cNvPr>
          <p:cNvSpPr/>
          <p:nvPr/>
        </p:nvSpPr>
        <p:spPr>
          <a:xfrm>
            <a:off x="1706881" y="5912150"/>
            <a:ext cx="180000" cy="180000"/>
          </a:xfrm>
          <a:prstGeom prst="rect">
            <a:avLst/>
          </a:prstGeom>
          <a:solidFill>
            <a:srgbClr val="F5E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1600F-4F94-4689-788E-CA8EB2DDEE2F}"/>
              </a:ext>
            </a:extLst>
          </p:cNvPr>
          <p:cNvSpPr/>
          <p:nvPr/>
        </p:nvSpPr>
        <p:spPr>
          <a:xfrm>
            <a:off x="7243265" y="5666509"/>
            <a:ext cx="180000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57CBA3-9A41-294A-1B73-17B7F4674A98}"/>
              </a:ext>
            </a:extLst>
          </p:cNvPr>
          <p:cNvSpPr/>
          <p:nvPr/>
        </p:nvSpPr>
        <p:spPr>
          <a:xfrm>
            <a:off x="7243265" y="5912655"/>
            <a:ext cx="180000" cy="180000"/>
          </a:xfrm>
          <a:prstGeom prst="rect">
            <a:avLst/>
          </a:prstGeom>
          <a:solidFill>
            <a:srgbClr val="00FF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995A65-E87A-5E85-8CD5-D13F7243B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78" y="1893001"/>
            <a:ext cx="3744060" cy="35118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C15950-D73B-A773-2131-E897C9313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164" y="1893001"/>
            <a:ext cx="3744060" cy="351187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4EA31AE-4051-590F-9D6F-F77A9CB781EF}"/>
              </a:ext>
            </a:extLst>
          </p:cNvPr>
          <p:cNvSpPr/>
          <p:nvPr/>
        </p:nvSpPr>
        <p:spPr>
          <a:xfrm>
            <a:off x="1706881" y="5669041"/>
            <a:ext cx="180000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5510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8FD6-56F8-8ED7-046F-51BD2805D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comparison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86A09-F3E3-B121-DFBC-0B8736B4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12</a:t>
            </a:fld>
            <a:endParaRPr lang="hr-HR"/>
          </a:p>
        </p:txBody>
      </p:sp>
      <p:pic>
        <p:nvPicPr>
          <p:cNvPr id="5" name="Picture 4" descr="A map of land with green dots&#10;&#10;Description automatically generated">
            <a:extLst>
              <a:ext uri="{FF2B5EF4-FFF2-40B4-BE49-F238E27FC236}">
                <a16:creationId xmlns:a16="http://schemas.microsoft.com/office/drawing/2014/main" id="{0E6E8913-3EB4-A5F5-DBAD-AF500670B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3"/>
          <a:stretch/>
        </p:blipFill>
        <p:spPr>
          <a:xfrm>
            <a:off x="1731817" y="1941651"/>
            <a:ext cx="3398522" cy="3511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DA23B7-D148-21E9-EA59-09F5D210AF72}"/>
              </a:ext>
            </a:extLst>
          </p:cNvPr>
          <p:cNvSpPr txBox="1"/>
          <p:nvPr/>
        </p:nvSpPr>
        <p:spPr>
          <a:xfrm>
            <a:off x="1731817" y="5588380"/>
            <a:ext cx="377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North School Cluster</a:t>
            </a:r>
          </a:p>
          <a:p>
            <a:r>
              <a:rPr lang="en-US" dirty="0"/>
              <a:t> -  North Inverse Sampled Non-Schools</a:t>
            </a:r>
            <a:endParaRPr lang="hr-H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834D79-E7DA-EAD1-F2C8-77264CE3AD5D}"/>
              </a:ext>
            </a:extLst>
          </p:cNvPr>
          <p:cNvSpPr/>
          <p:nvPr/>
        </p:nvSpPr>
        <p:spPr>
          <a:xfrm>
            <a:off x="1551817" y="5694377"/>
            <a:ext cx="176759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628DE-6F77-C27F-4D82-769E59507814}"/>
              </a:ext>
            </a:extLst>
          </p:cNvPr>
          <p:cNvSpPr/>
          <p:nvPr/>
        </p:nvSpPr>
        <p:spPr>
          <a:xfrm>
            <a:off x="1551817" y="5940523"/>
            <a:ext cx="176759" cy="180000"/>
          </a:xfrm>
          <a:prstGeom prst="rect">
            <a:avLst/>
          </a:prstGeom>
          <a:solidFill>
            <a:srgbClr val="00FF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B704F-49D5-05EB-81FE-7695ABB3F676}"/>
              </a:ext>
            </a:extLst>
          </p:cNvPr>
          <p:cNvSpPr txBox="1"/>
          <p:nvPr/>
        </p:nvSpPr>
        <p:spPr>
          <a:xfrm>
            <a:off x="7232072" y="5588380"/>
            <a:ext cx="3923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North School Cluster</a:t>
            </a:r>
          </a:p>
          <a:p>
            <a:r>
              <a:rPr lang="en-US" dirty="0"/>
              <a:t> -  North Gaussian Sampled Non-Schools</a:t>
            </a:r>
            <a:endParaRPr lang="hr-H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592EC-52D1-5213-B4A9-CAD20334548B}"/>
              </a:ext>
            </a:extLst>
          </p:cNvPr>
          <p:cNvSpPr/>
          <p:nvPr/>
        </p:nvSpPr>
        <p:spPr>
          <a:xfrm>
            <a:off x="7052072" y="5694377"/>
            <a:ext cx="180000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14491-1261-52EE-BE07-BCC987DDF438}"/>
              </a:ext>
            </a:extLst>
          </p:cNvPr>
          <p:cNvSpPr/>
          <p:nvPr/>
        </p:nvSpPr>
        <p:spPr>
          <a:xfrm>
            <a:off x="7052072" y="5940523"/>
            <a:ext cx="180000" cy="180000"/>
          </a:xfrm>
          <a:prstGeom prst="rect">
            <a:avLst/>
          </a:prstGeom>
          <a:solidFill>
            <a:srgbClr val="00FF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F2BBE9-EB74-326F-36BA-0EC6073D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265" y="1959933"/>
            <a:ext cx="3406485" cy="351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9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4755-093D-D623-4A61-725EE5EC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3E3D-3B4C-4392-1A64-593594C8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comparison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7F633-BBBC-CFA2-5D96-EC76E8F9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13</a:t>
            </a:fld>
            <a:endParaRPr lang="hr-HR"/>
          </a:p>
        </p:txBody>
      </p:sp>
      <p:pic>
        <p:nvPicPr>
          <p:cNvPr id="15" name="Picture 14" descr="A graph of a line&#10;&#10;Description automatically generated">
            <a:extLst>
              <a:ext uri="{FF2B5EF4-FFF2-40B4-BE49-F238E27FC236}">
                <a16:creationId xmlns:a16="http://schemas.microsoft.com/office/drawing/2014/main" id="{FD8D000A-AF4C-E2D4-6839-EB7EA22EB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58" y="1992761"/>
            <a:ext cx="5288296" cy="3966222"/>
          </a:xfrm>
          <a:prstGeom prst="rect">
            <a:avLst/>
          </a:prstGeom>
        </p:spPr>
      </p:pic>
      <p:pic>
        <p:nvPicPr>
          <p:cNvPr id="13" name="Picture 12" descr="A graph with a blue line&#10;&#10;Description automatically generated">
            <a:extLst>
              <a:ext uri="{FF2B5EF4-FFF2-40B4-BE49-F238E27FC236}">
                <a16:creationId xmlns:a16="http://schemas.microsoft.com/office/drawing/2014/main" id="{A18D38F3-E329-57EA-ED33-FF47206D8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4" y="1992761"/>
            <a:ext cx="5288296" cy="39662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D5F870-0096-F0F1-5CC0-7B41CDB8F8DE}"/>
              </a:ext>
            </a:extLst>
          </p:cNvPr>
          <p:cNvSpPr txBox="1"/>
          <p:nvPr/>
        </p:nvSpPr>
        <p:spPr>
          <a:xfrm>
            <a:off x="2644825" y="5835404"/>
            <a:ext cx="194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Inverse sampling</a:t>
            </a:r>
            <a:endParaRPr lang="hr-H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1BD54F-5F69-503E-2DB5-294C82D8BEA9}"/>
              </a:ext>
            </a:extLst>
          </p:cNvPr>
          <p:cNvSpPr txBox="1"/>
          <p:nvPr/>
        </p:nvSpPr>
        <p:spPr>
          <a:xfrm>
            <a:off x="7933121" y="5835404"/>
            <a:ext cx="194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Gaussian sampling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58740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7E455-94A2-BF6A-923F-0878E917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6C98-18E3-D3C1-CD56-1A612018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0061E-4968-81C2-9A19-A53A2AA8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Inverse non-school sampling</a:t>
            </a:r>
          </a:p>
          <a:p>
            <a:pPr lvl="2"/>
            <a:r>
              <a:rPr lang="en-US" sz="2000" b="1" dirty="0"/>
              <a:t>F1: 89.03%</a:t>
            </a:r>
          </a:p>
          <a:p>
            <a:pPr lvl="2"/>
            <a:r>
              <a:rPr lang="en-US" sz="2000" dirty="0"/>
              <a:t>P: 97.38%</a:t>
            </a:r>
          </a:p>
          <a:p>
            <a:pPr lvl="2"/>
            <a:r>
              <a:rPr lang="en-US" sz="2000" dirty="0"/>
              <a:t>R: 82.53%</a:t>
            </a:r>
          </a:p>
          <a:p>
            <a:pPr lvl="1"/>
            <a:r>
              <a:rPr lang="en-US" sz="2400" dirty="0"/>
              <a:t>Gaussian non-school sampling</a:t>
            </a:r>
          </a:p>
          <a:p>
            <a:pPr lvl="2"/>
            <a:r>
              <a:rPr lang="en-US" sz="2000" b="1" dirty="0"/>
              <a:t>F1: 89.72%</a:t>
            </a:r>
          </a:p>
          <a:p>
            <a:pPr lvl="2"/>
            <a:r>
              <a:rPr lang="en-US" sz="2000" dirty="0"/>
              <a:t>P: 96.04%</a:t>
            </a:r>
          </a:p>
          <a:p>
            <a:pPr lvl="2"/>
            <a:r>
              <a:rPr lang="en-US" sz="2000" dirty="0"/>
              <a:t>R: 84.98%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18868-7AA1-74C2-C91A-7BB36CB3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47845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DAC32-764B-7C67-16EE-B7A23FF0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FA0D0-3F40-61FD-B5B7-941A0F13E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/>
              <a:t>Previously:</a:t>
            </a:r>
          </a:p>
          <a:p>
            <a:pPr lvl="2"/>
            <a:r>
              <a:rPr lang="en-US" sz="2000" dirty="0"/>
              <a:t>Non-schools sampled only once (before training model)</a:t>
            </a:r>
          </a:p>
          <a:p>
            <a:pPr lvl="2"/>
            <a:endParaRPr lang="en-US" sz="2000" dirty="0"/>
          </a:p>
          <a:p>
            <a:pPr lvl="1"/>
            <a:r>
              <a:rPr lang="en-US" sz="2400" b="1" dirty="0"/>
              <a:t>Dynamic non-school sampling</a:t>
            </a:r>
            <a:r>
              <a:rPr lang="en-US" sz="2400" dirty="0"/>
              <a:t>:</a:t>
            </a:r>
          </a:p>
          <a:p>
            <a:pPr lvl="2"/>
            <a:r>
              <a:rPr lang="en-US" sz="2000" dirty="0"/>
              <a:t>Non-schools sampled independently each epoch</a:t>
            </a:r>
          </a:p>
          <a:p>
            <a:pPr lvl="2"/>
            <a:r>
              <a:rPr lang="en-US" sz="2000" dirty="0"/>
              <a:t>Can be used with both inverse and Gaussian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47F57-ED6F-7F17-2FB6-59621714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92481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AABC-DA1C-E2CA-0193-E2573BCB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13F7-94FC-2610-318C-924CA8E2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9C02C-F1B5-D7E1-CAA8-AA89041FD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Static Gaussian non-school sampling</a:t>
            </a:r>
          </a:p>
          <a:p>
            <a:pPr lvl="2"/>
            <a:r>
              <a:rPr lang="en-US" sz="2000" b="1" dirty="0"/>
              <a:t>F1: 89.72%</a:t>
            </a:r>
          </a:p>
          <a:p>
            <a:pPr lvl="2"/>
            <a:r>
              <a:rPr lang="en-US" sz="2000" dirty="0"/>
              <a:t>P: 96.04%</a:t>
            </a:r>
          </a:p>
          <a:p>
            <a:pPr lvl="2"/>
            <a:r>
              <a:rPr lang="en-US" sz="2000" dirty="0"/>
              <a:t>R: 84.98%</a:t>
            </a:r>
          </a:p>
          <a:p>
            <a:pPr lvl="1"/>
            <a:r>
              <a:rPr lang="en-US" sz="2400" dirty="0"/>
              <a:t>Dynamic Gaussian non-school sampling</a:t>
            </a:r>
          </a:p>
          <a:p>
            <a:pPr lvl="2"/>
            <a:r>
              <a:rPr lang="en-US" sz="2000" b="1" dirty="0"/>
              <a:t>F1: 89.72%</a:t>
            </a:r>
          </a:p>
          <a:p>
            <a:pPr lvl="2"/>
            <a:r>
              <a:rPr lang="en-US" sz="2000" dirty="0"/>
              <a:t>P: 96.32%</a:t>
            </a:r>
          </a:p>
          <a:p>
            <a:pPr lvl="2"/>
            <a:r>
              <a:rPr lang="en-US" sz="2000" dirty="0"/>
              <a:t>R: 84.20%</a:t>
            </a:r>
          </a:p>
          <a:p>
            <a:pPr marL="201168" lvl="1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C98EF-5C78-B886-B5E3-D7E6E814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36087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3669-CAD8-68BE-C885-A5AF9CD2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6C04-2F78-7E56-EEC3-731295EF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OHEM non-school sampling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18239-2EE0-69FB-BB2D-7972720B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b="1" dirty="0"/>
              <a:t>Online Hard Example Mining:</a:t>
            </a:r>
          </a:p>
          <a:p>
            <a:pPr lvl="2"/>
            <a:r>
              <a:rPr lang="en-US" sz="2000" dirty="0"/>
              <a:t>Each epoch, we evaluate the model on all non-schools</a:t>
            </a:r>
          </a:p>
          <a:p>
            <a:pPr lvl="2"/>
            <a:r>
              <a:rPr lang="en-US" sz="2000" dirty="0"/>
              <a:t>For the next epoch, non-schools will be selected:</a:t>
            </a:r>
          </a:p>
          <a:p>
            <a:pPr lvl="3"/>
            <a:r>
              <a:rPr lang="en-US" sz="2000" dirty="0"/>
              <a:t>50% - random examples (inverse or Gaussian)</a:t>
            </a:r>
          </a:p>
          <a:p>
            <a:pPr lvl="3"/>
            <a:r>
              <a:rPr lang="en-US" sz="2000" dirty="0"/>
              <a:t>50% - hard examples</a:t>
            </a:r>
          </a:p>
          <a:p>
            <a:pPr lvl="3"/>
            <a:endParaRPr lang="en-US" sz="2000" dirty="0"/>
          </a:p>
          <a:p>
            <a:pPr marL="384048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ts val="2400"/>
              <a:buFont typeface="Calibri" panose="020F0502020204030204" pitchFamily="34" charset="0"/>
              <a:buChar char="◦"/>
            </a:pPr>
            <a:r>
              <a:rPr lang="en-US" sz="24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Hard example sampling:</a:t>
            </a:r>
            <a:endParaRPr lang="en-US" sz="2400" dirty="0"/>
          </a:p>
          <a:p>
            <a:pPr marL="676656" lvl="1">
              <a:buSzPts val="2400"/>
            </a:pPr>
            <a:r>
              <a:rPr lang="en-US" sz="20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Select false positives (non-schools labeled as schools)</a:t>
            </a:r>
            <a:endParaRPr lang="en-US" sz="2000" dirty="0"/>
          </a:p>
          <a:p>
            <a:pPr marL="676656" lvl="1">
              <a:buSzPts val="2400"/>
            </a:pPr>
            <a:r>
              <a:rPr lang="en-US" sz="20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Use model’s confidence score (probability of example being a school) combined with standard (inverse or Gaussian) sampling</a:t>
            </a:r>
            <a:endParaRPr lang="hr-HR" sz="20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BA785-70A6-51FD-C73A-61539A29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9394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7BA4-851A-A15A-8809-3D2524131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1890-EF8C-B18A-CE59-C374FFB6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over epochs comparison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9C7B3-D850-35CC-5610-FF4F68FA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18</a:t>
            </a:fld>
            <a:endParaRPr lang="hr-H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B50FE-87C4-6043-49C4-BC157C05CF21}"/>
              </a:ext>
            </a:extLst>
          </p:cNvPr>
          <p:cNvSpPr txBox="1"/>
          <p:nvPr/>
        </p:nvSpPr>
        <p:spPr>
          <a:xfrm>
            <a:off x="1097280" y="5551211"/>
            <a:ext cx="2606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North School Cluster</a:t>
            </a:r>
          </a:p>
          <a:p>
            <a:r>
              <a:rPr lang="en-US" dirty="0"/>
              <a:t> -  Epoch 1 Non-Schools</a:t>
            </a:r>
            <a:endParaRPr lang="hr-H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D6829-D9E3-1860-8E71-93DF454C4B2D}"/>
              </a:ext>
            </a:extLst>
          </p:cNvPr>
          <p:cNvSpPr/>
          <p:nvPr/>
        </p:nvSpPr>
        <p:spPr>
          <a:xfrm>
            <a:off x="917279" y="5657208"/>
            <a:ext cx="176759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5FB50-ABE5-E825-3331-C49BC13FB112}"/>
              </a:ext>
            </a:extLst>
          </p:cNvPr>
          <p:cNvSpPr/>
          <p:nvPr/>
        </p:nvSpPr>
        <p:spPr>
          <a:xfrm>
            <a:off x="917279" y="5903354"/>
            <a:ext cx="176759" cy="180000"/>
          </a:xfrm>
          <a:prstGeom prst="rect">
            <a:avLst/>
          </a:prstGeom>
          <a:solidFill>
            <a:srgbClr val="00FF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279CFF-2D10-5228-65E7-3E457014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63" y="1966328"/>
            <a:ext cx="3190952" cy="34990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BD1086-7F95-A7E2-2556-08D592100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867" y="1969285"/>
            <a:ext cx="3190952" cy="35049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1883A4-2E7F-D745-BDC1-5831BA4E0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771" y="1960501"/>
            <a:ext cx="3196266" cy="35049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8315256-8313-8462-04C0-C6ECD4EEDBDF}"/>
              </a:ext>
            </a:extLst>
          </p:cNvPr>
          <p:cNvSpPr txBox="1"/>
          <p:nvPr/>
        </p:nvSpPr>
        <p:spPr>
          <a:xfrm>
            <a:off x="5025044" y="5551211"/>
            <a:ext cx="2606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North School Cluster</a:t>
            </a:r>
          </a:p>
          <a:p>
            <a:r>
              <a:rPr lang="en-US" dirty="0"/>
              <a:t> -  Epoch 5 Non-Schools</a:t>
            </a:r>
            <a:endParaRPr lang="hr-H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7CF8D-4CCA-CD3D-A9CE-6CD16DF593B9}"/>
              </a:ext>
            </a:extLst>
          </p:cNvPr>
          <p:cNvSpPr/>
          <p:nvPr/>
        </p:nvSpPr>
        <p:spPr>
          <a:xfrm>
            <a:off x="4845043" y="5657208"/>
            <a:ext cx="176759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B24C21-FDCF-8EE8-9912-D0E1074331A5}"/>
              </a:ext>
            </a:extLst>
          </p:cNvPr>
          <p:cNvSpPr/>
          <p:nvPr/>
        </p:nvSpPr>
        <p:spPr>
          <a:xfrm>
            <a:off x="4845043" y="5903354"/>
            <a:ext cx="176759" cy="180000"/>
          </a:xfrm>
          <a:prstGeom prst="rect">
            <a:avLst/>
          </a:prstGeom>
          <a:solidFill>
            <a:srgbClr val="FFE6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6B7A5-D3CB-38F7-5924-75136268EEA7}"/>
              </a:ext>
            </a:extLst>
          </p:cNvPr>
          <p:cNvSpPr txBox="1"/>
          <p:nvPr/>
        </p:nvSpPr>
        <p:spPr>
          <a:xfrm>
            <a:off x="8876608" y="5551211"/>
            <a:ext cx="2606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 North School Cluster</a:t>
            </a:r>
          </a:p>
          <a:p>
            <a:r>
              <a:rPr lang="en-US" dirty="0"/>
              <a:t> -  Epoch 10 Non-Schools</a:t>
            </a:r>
            <a:endParaRPr lang="hr-H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9A097A-49B1-F8F1-97A4-1F28FDB7D9C5}"/>
              </a:ext>
            </a:extLst>
          </p:cNvPr>
          <p:cNvSpPr/>
          <p:nvPr/>
        </p:nvSpPr>
        <p:spPr>
          <a:xfrm>
            <a:off x="8696607" y="5657208"/>
            <a:ext cx="176759" cy="180000"/>
          </a:xfrm>
          <a:prstGeom prst="rect">
            <a:avLst/>
          </a:prstGeom>
          <a:solidFill>
            <a:srgbClr val="0F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B20355-0ED5-D3D2-720D-E1CF6FDDEE1C}"/>
              </a:ext>
            </a:extLst>
          </p:cNvPr>
          <p:cNvSpPr/>
          <p:nvPr/>
        </p:nvSpPr>
        <p:spPr>
          <a:xfrm>
            <a:off x="8696607" y="5903354"/>
            <a:ext cx="176759" cy="180000"/>
          </a:xfrm>
          <a:prstGeom prst="rect">
            <a:avLst/>
          </a:prstGeom>
          <a:solidFill>
            <a:srgbClr val="FF34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6019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B2E78-9B46-5932-FCB3-646F0CC8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36A05-B424-72A3-FB55-C700DA60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8AF91-6B0F-1F77-3632-16AE70C20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Dynamic Gaussian non-school sampling</a:t>
            </a:r>
          </a:p>
          <a:p>
            <a:pPr lvl="2"/>
            <a:r>
              <a:rPr lang="en-US" sz="2000" b="1" dirty="0"/>
              <a:t>F1: 89.72%</a:t>
            </a:r>
          </a:p>
          <a:p>
            <a:pPr lvl="2"/>
            <a:r>
              <a:rPr lang="en-US" sz="2000" dirty="0"/>
              <a:t>P: 96.32%</a:t>
            </a:r>
          </a:p>
          <a:p>
            <a:pPr lvl="2"/>
            <a:r>
              <a:rPr lang="en-US" sz="2000" dirty="0"/>
              <a:t>R: 84.20%</a:t>
            </a:r>
          </a:p>
          <a:p>
            <a:pPr lvl="1"/>
            <a:r>
              <a:rPr lang="en-US" sz="2400" dirty="0"/>
              <a:t>OHEM Gaussian non-school sampling</a:t>
            </a:r>
          </a:p>
          <a:p>
            <a:pPr lvl="2"/>
            <a:r>
              <a:rPr lang="en-US" sz="2000" b="1" dirty="0"/>
              <a:t>F1: 88.93%</a:t>
            </a:r>
          </a:p>
          <a:p>
            <a:pPr lvl="2"/>
            <a:r>
              <a:rPr lang="en-US" sz="2000" dirty="0"/>
              <a:t>P: 97.72%</a:t>
            </a:r>
          </a:p>
          <a:p>
            <a:pPr lvl="2"/>
            <a:r>
              <a:rPr lang="en-US" sz="2000" dirty="0"/>
              <a:t>R: 82.15%</a:t>
            </a:r>
          </a:p>
          <a:p>
            <a:pPr lvl="1"/>
            <a:endParaRPr lang="en-US" sz="2800" dirty="0"/>
          </a:p>
          <a:p>
            <a:pPr lvl="1"/>
            <a:r>
              <a:rPr lang="en-US" sz="2400" dirty="0"/>
              <a:t>OHEM train takes 3x longer</a:t>
            </a:r>
          </a:p>
          <a:p>
            <a:pPr marL="201168" lvl="1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2E5E-31A2-D477-891F-E72E5120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73790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FD56-F4F5-55B5-4927-36B17B73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method choice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85BB0-9BA5-002D-3145-B91657B7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Inverse or Gaussian sampling</a:t>
            </a:r>
          </a:p>
          <a:p>
            <a:pPr lvl="1"/>
            <a:r>
              <a:rPr lang="en-US" sz="2400" dirty="0"/>
              <a:t>Static or dynamic sampling</a:t>
            </a:r>
          </a:p>
          <a:p>
            <a:pPr lvl="1"/>
            <a:r>
              <a:rPr lang="en-US" sz="2400" dirty="0"/>
              <a:t>Dynamic or OHEM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We’ve seen that static Gaussian sampling and dynamic Gaussian sampling yield the best results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7AC0D-7FA9-9DB8-136A-E0A18153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8163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9757-A47B-C7C4-45F3-54A772CE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0E40-E636-F243-9505-754A6CB4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 (3 runs)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1666-95B5-5898-798B-DF8251BFA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Static Gaussian non-school sampling</a:t>
            </a:r>
          </a:p>
          <a:p>
            <a:pPr lvl="2"/>
            <a:r>
              <a:rPr lang="en-US" sz="2000" b="1" dirty="0"/>
              <a:t>F1: 90.47 +- 0.06%</a:t>
            </a:r>
          </a:p>
          <a:p>
            <a:pPr lvl="2"/>
            <a:r>
              <a:rPr lang="en-US" sz="2000" dirty="0"/>
              <a:t>P: 96.37 +- 0.31%</a:t>
            </a:r>
          </a:p>
          <a:p>
            <a:pPr lvl="2"/>
            <a:r>
              <a:rPr lang="en-US" sz="2000" dirty="0"/>
              <a:t>R: 85.71 +- 0.21%</a:t>
            </a:r>
          </a:p>
          <a:p>
            <a:pPr lvl="1"/>
            <a:r>
              <a:rPr lang="en-US" sz="2400" dirty="0"/>
              <a:t>Dynamic Gaussian non-school sampling</a:t>
            </a:r>
          </a:p>
          <a:p>
            <a:pPr lvl="2"/>
            <a:r>
              <a:rPr lang="en-US" sz="2000" b="1" dirty="0"/>
              <a:t>F1: 89.45 +- 0.54%</a:t>
            </a:r>
          </a:p>
          <a:p>
            <a:pPr lvl="2"/>
            <a:r>
              <a:rPr lang="en-US" sz="2000" dirty="0"/>
              <a:t>P: 97.48 +- 0.37%</a:t>
            </a:r>
          </a:p>
          <a:p>
            <a:pPr lvl="2"/>
            <a:r>
              <a:rPr lang="en-US" sz="2000" dirty="0"/>
              <a:t>R: 83.27 +- 0.68%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Chosen sampling method: </a:t>
            </a:r>
            <a:r>
              <a:rPr lang="en-US" sz="2400" b="1" dirty="0"/>
              <a:t>static Gaussian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07FAF-E38F-51EB-1C3B-09D72D26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1736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C31-0137-5E1D-920F-FC471D05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epochs validation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3FC7-0845-DAD7-473C-2E99694F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Increased number of epochs (20 vs 13)</a:t>
            </a:r>
          </a:p>
          <a:p>
            <a:pPr lvl="1"/>
            <a:r>
              <a:rPr lang="en-US" sz="2400" dirty="0"/>
              <a:t>Measure </a:t>
            </a:r>
            <a:r>
              <a:rPr lang="en-US" sz="2400" b="1" dirty="0"/>
              <a:t>F1-score </a:t>
            </a:r>
            <a:r>
              <a:rPr lang="en-US" sz="2400" dirty="0"/>
              <a:t>over epochs on both train and validation set</a:t>
            </a:r>
          </a:p>
          <a:p>
            <a:pPr lvl="1"/>
            <a:r>
              <a:rPr lang="en-US" sz="2400" dirty="0"/>
              <a:t>Choose an appropriate number of epochs for fine-tuning</a:t>
            </a:r>
          </a:p>
          <a:p>
            <a:pPr marL="201168" lvl="1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CE338-17D5-2883-F448-80222F72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6969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ECB7-800C-3CE8-F357-12E2D506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E59E-7DA4-A278-4265-DD219C33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epochs validation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2846C-B543-DF59-63D7-286D9353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23</a:t>
            </a:fld>
            <a:endParaRPr lang="hr-HR"/>
          </a:p>
        </p:txBody>
      </p:sp>
      <p:pic>
        <p:nvPicPr>
          <p:cNvPr id="8" name="Picture 7" descr="A graph of a graph&#10;&#10;Description automatically generated">
            <a:extLst>
              <a:ext uri="{FF2B5EF4-FFF2-40B4-BE49-F238E27FC236}">
                <a16:creationId xmlns:a16="http://schemas.microsoft.com/office/drawing/2014/main" id="{901931C0-98C2-1146-8C0C-DCCC69DF4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34" y="2001982"/>
            <a:ext cx="5633546" cy="4225159"/>
          </a:xfrm>
          <a:prstGeom prst="rect">
            <a:avLst/>
          </a:prstGeom>
        </p:spPr>
      </p:pic>
      <p:pic>
        <p:nvPicPr>
          <p:cNvPr id="10" name="Picture 9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65CC7435-C1B4-4029-13A2-FDD76F759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1982"/>
            <a:ext cx="5633546" cy="422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75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CE99A-316B-2AD7-64C7-FC95E8DB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24</a:t>
            </a:fld>
            <a:endParaRPr lang="hr-HR"/>
          </a:p>
        </p:txBody>
      </p:sp>
      <p:pic>
        <p:nvPicPr>
          <p:cNvPr id="6" name="Picture 5" descr="A screenshot of a map&#10;&#10;Description automatically generated">
            <a:extLst>
              <a:ext uri="{FF2B5EF4-FFF2-40B4-BE49-F238E27FC236}">
                <a16:creationId xmlns:a16="http://schemas.microsoft.com/office/drawing/2014/main" id="{2BA13323-70E3-419F-8EF4-D7D5A619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105" y="24158"/>
            <a:ext cx="9111790" cy="683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6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C0A7-6369-7FEE-12D8-5320A212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a map of a town&#10;&#10;Description automatically generated">
            <a:extLst>
              <a:ext uri="{FF2B5EF4-FFF2-40B4-BE49-F238E27FC236}">
                <a16:creationId xmlns:a16="http://schemas.microsoft.com/office/drawing/2014/main" id="{676D5E8E-075A-3875-97EF-86D402227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104" y="24159"/>
            <a:ext cx="9111789" cy="68338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C88FBC-4FB2-8D33-B327-AEC2E53D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60471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5E369-94CE-E605-6D5D-BAF1E467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8F315-DECF-C7F3-E69B-0B503CA1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Fine-tune model on entire </a:t>
            </a:r>
            <a:r>
              <a:rPr lang="en-US" sz="2400" dirty="0" err="1"/>
              <a:t>Anditi</a:t>
            </a:r>
            <a:r>
              <a:rPr lang="en-US" sz="2400" dirty="0"/>
              <a:t> dataset (with non-schools sampled using static Gaussian sampling method)</a:t>
            </a:r>
          </a:p>
          <a:p>
            <a:pPr lvl="1"/>
            <a:r>
              <a:rPr lang="en-US" sz="2400" dirty="0"/>
              <a:t>Dense inference (run newly fine-tuned model on tiles covering the chosen 26 districts)</a:t>
            </a:r>
          </a:p>
          <a:p>
            <a:pPr lvl="1"/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901C-56ED-07B7-9D74-3052323A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71678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316</TotalTime>
  <Words>732</Words>
  <Application>Microsoft Office PowerPoint</Application>
  <PresentationFormat>Widescreen</PresentationFormat>
  <Paragraphs>164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Calibri</vt:lpstr>
      <vt:lpstr>Calibri Light</vt:lpstr>
      <vt:lpstr>Cambria Math</vt:lpstr>
      <vt:lpstr>Retrospect</vt:lpstr>
      <vt:lpstr>School mapping in ESRI imagery</vt:lpstr>
      <vt:lpstr>Recap from last meeting</vt:lpstr>
      <vt:lpstr>Non-school sampling</vt:lpstr>
      <vt:lpstr>Inverse non-school sampling</vt:lpstr>
      <vt:lpstr>Inverse non-school sampling</vt:lpstr>
      <vt:lpstr>Inverse non-school sampling</vt:lpstr>
      <vt:lpstr>Results comparison</vt:lpstr>
      <vt:lpstr>New contributions</vt:lpstr>
      <vt:lpstr>Gaussian non-school sampling</vt:lpstr>
      <vt:lpstr>Gaussian non-school sampling</vt:lpstr>
      <vt:lpstr>Gaussian non-school sampling</vt:lpstr>
      <vt:lpstr>Sampling comparison</vt:lpstr>
      <vt:lpstr>Sampling comparison</vt:lpstr>
      <vt:lpstr>Results comparison</vt:lpstr>
      <vt:lpstr>Dynamic non-school sampling</vt:lpstr>
      <vt:lpstr>Results comparison</vt:lpstr>
      <vt:lpstr>OHEM non-school sampling</vt:lpstr>
      <vt:lpstr>Sampling over epochs comparison</vt:lpstr>
      <vt:lpstr>Results comparison</vt:lpstr>
      <vt:lpstr>Sampling method choice</vt:lpstr>
      <vt:lpstr>Results comparison (3 runs)</vt:lpstr>
      <vt:lpstr>Number of epochs validation</vt:lpstr>
      <vt:lpstr>Number of epochs validation</vt:lpstr>
      <vt:lpstr>PowerPoint Presentation</vt:lpstr>
      <vt:lpstr>PowerPoint Presentation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Jambrovic</dc:creator>
  <cp:lastModifiedBy>Dominik Jambrovic</cp:lastModifiedBy>
  <cp:revision>11</cp:revision>
  <dcterms:created xsi:type="dcterms:W3CDTF">2024-10-22T16:37:25Z</dcterms:created>
  <dcterms:modified xsi:type="dcterms:W3CDTF">2024-11-12T17:41:38Z</dcterms:modified>
</cp:coreProperties>
</file>